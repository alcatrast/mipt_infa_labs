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64" r:id="rId3"/>
    <p:sldId id="257" r:id="rId4"/>
    <p:sldId id="259" r:id="rId5"/>
    <p:sldId id="260" r:id="rId6"/>
    <p:sldId id="262" r:id="rId7"/>
    <p:sldId id="265" r:id="rId8"/>
    <p:sldId id="261" r:id="rId9"/>
    <p:sldId id="263" r:id="rId10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2C5EB"/>
    <a:srgbClr val="7C7C7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76"/>
  </p:normalViewPr>
  <p:slideViewPr>
    <p:cSldViewPr snapToGrid="0">
      <p:cViewPr varScale="1">
        <p:scale>
          <a:sx n="118" d="100"/>
          <a:sy n="118" d="100"/>
        </p:scale>
        <p:origin x="610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93EEBA5-02AC-4B42-A6E3-C428E5357231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3198E84B-65BA-4F9D-BAF8-5F04BA32FACD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ru-RU" sz="1800" dirty="0">
              <a:solidFill>
                <a:srgbClr val="525252"/>
              </a:solidFill>
              <a:latin typeface="Franklin Gothic Book" panose="020B0503020102020204" pitchFamily="34" charset="0"/>
            </a:rPr>
            <a:t>Краткая теоретическая справка, обсуждение математической модели маятника</a:t>
          </a:r>
        </a:p>
      </dgm:t>
    </dgm:pt>
    <dgm:pt modelId="{655DE470-E12F-489C-9292-3D8D9755015E}" type="parTrans" cxnId="{947E7D01-C5A7-4510-9040-87973D4E14E3}">
      <dgm:prSet/>
      <dgm:spPr/>
      <dgm:t>
        <a:bodyPr/>
        <a:lstStyle/>
        <a:p>
          <a:pPr algn="l"/>
          <a:endParaRPr lang="en-US" sz="1800">
            <a:solidFill>
              <a:srgbClr val="525252"/>
            </a:solidFill>
            <a:latin typeface="Franklin Gothic Book" panose="020B0503020102020204" pitchFamily="34" charset="0"/>
          </a:endParaRPr>
        </a:p>
      </dgm:t>
    </dgm:pt>
    <dgm:pt modelId="{53F023EE-EE82-4F1B-8FBE-CF23CF4D6CEB}" type="sibTrans" cxnId="{947E7D01-C5A7-4510-9040-87973D4E14E3}">
      <dgm:prSet/>
      <dgm:spPr/>
      <dgm:t>
        <a:bodyPr/>
        <a:lstStyle/>
        <a:p>
          <a:pPr algn="l"/>
          <a:endParaRPr lang="en-US" sz="1800">
            <a:solidFill>
              <a:srgbClr val="525252"/>
            </a:solidFill>
            <a:latin typeface="Franklin Gothic Book" panose="020B0503020102020204" pitchFamily="34" charset="0"/>
          </a:endParaRPr>
        </a:p>
      </dgm:t>
    </dgm:pt>
    <dgm:pt modelId="{1FB7BD05-324B-4B24-939B-6510D2168420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ru-RU" sz="1800" dirty="0">
              <a:solidFill>
                <a:srgbClr val="525252"/>
              </a:solidFill>
              <a:latin typeface="Franklin Gothic Book" panose="020B0503020102020204" pitchFamily="34" charset="0"/>
            </a:rPr>
            <a:t>Самостоятельное построение модели маятника, исследование и написание отчета</a:t>
          </a:r>
        </a:p>
      </dgm:t>
    </dgm:pt>
    <dgm:pt modelId="{859CD8B6-38EE-43EA-AD30-7E9330910A32}" type="parTrans" cxnId="{DB3EB404-5506-4001-B06C-86CB236782F4}">
      <dgm:prSet/>
      <dgm:spPr/>
      <dgm:t>
        <a:bodyPr/>
        <a:lstStyle/>
        <a:p>
          <a:pPr algn="l"/>
          <a:endParaRPr lang="en-US" sz="1800">
            <a:solidFill>
              <a:srgbClr val="525252"/>
            </a:solidFill>
            <a:latin typeface="Franklin Gothic Book" panose="020B0503020102020204" pitchFamily="34" charset="0"/>
          </a:endParaRPr>
        </a:p>
      </dgm:t>
    </dgm:pt>
    <dgm:pt modelId="{7510A7B3-6AD6-4FBA-A0D5-C902E97D57E7}" type="sibTrans" cxnId="{DB3EB404-5506-4001-B06C-86CB236782F4}">
      <dgm:prSet/>
      <dgm:spPr/>
      <dgm:t>
        <a:bodyPr/>
        <a:lstStyle/>
        <a:p>
          <a:pPr algn="l"/>
          <a:endParaRPr lang="en-US" sz="1800">
            <a:solidFill>
              <a:srgbClr val="525252"/>
            </a:solidFill>
            <a:latin typeface="Franklin Gothic Book" panose="020B0503020102020204" pitchFamily="34" charset="0"/>
          </a:endParaRPr>
        </a:p>
      </dgm:t>
    </dgm:pt>
    <dgm:pt modelId="{E5A0F9C7-C3C7-4194-BAF5-CE683BC41C6A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ru-RU" sz="1800" dirty="0">
              <a:solidFill>
                <a:srgbClr val="525252"/>
              </a:solidFill>
              <a:latin typeface="Franklin Gothic Book" panose="020B0503020102020204" pitchFamily="34" charset="0"/>
            </a:rPr>
            <a:t>Рассмотрение инструментов исследования модели, знакомство с </a:t>
          </a:r>
          <a:r>
            <a:rPr lang="en-US" sz="1800" dirty="0">
              <a:solidFill>
                <a:srgbClr val="525252"/>
              </a:solidFill>
              <a:latin typeface="Franklin Gothic Book" panose="020B0503020102020204" pitchFamily="34" charset="0"/>
            </a:rPr>
            <a:t>PID-</a:t>
          </a:r>
          <a:r>
            <a:rPr lang="ru-RU" sz="1800" dirty="0">
              <a:solidFill>
                <a:srgbClr val="525252"/>
              </a:solidFill>
              <a:latin typeface="Franklin Gothic Book" panose="020B0503020102020204" pitchFamily="34" charset="0"/>
            </a:rPr>
            <a:t>регуляторами</a:t>
          </a:r>
        </a:p>
      </dgm:t>
    </dgm:pt>
    <dgm:pt modelId="{1E3D03D8-38FD-40FD-93F9-5587B2E6B9E6}" type="parTrans" cxnId="{64D89B6B-0727-45F0-94FB-E0913294F0DE}">
      <dgm:prSet/>
      <dgm:spPr/>
      <dgm:t>
        <a:bodyPr/>
        <a:lstStyle/>
        <a:p>
          <a:pPr algn="l"/>
          <a:endParaRPr lang="en-US" sz="1800">
            <a:solidFill>
              <a:srgbClr val="525252"/>
            </a:solidFill>
            <a:latin typeface="Franklin Gothic Book" panose="020B0503020102020204" pitchFamily="34" charset="0"/>
          </a:endParaRPr>
        </a:p>
      </dgm:t>
    </dgm:pt>
    <dgm:pt modelId="{BA0CEAAF-E3CB-4E09-917C-5AD9DE55A11A}" type="sibTrans" cxnId="{64D89B6B-0727-45F0-94FB-E0913294F0DE}">
      <dgm:prSet/>
      <dgm:spPr/>
      <dgm:t>
        <a:bodyPr/>
        <a:lstStyle/>
        <a:p>
          <a:pPr algn="l"/>
          <a:endParaRPr lang="en-US" sz="1800">
            <a:solidFill>
              <a:srgbClr val="525252"/>
            </a:solidFill>
            <a:latin typeface="Franklin Gothic Book" panose="020B0503020102020204" pitchFamily="34" charset="0"/>
          </a:endParaRPr>
        </a:p>
      </dgm:t>
    </dgm:pt>
    <dgm:pt modelId="{ECB99DE4-2D87-2140-B647-B98CDA193301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ru-RU" sz="1800" dirty="0">
              <a:solidFill>
                <a:srgbClr val="525252"/>
              </a:solidFill>
              <a:latin typeface="Franklin Gothic Book" panose="020B0503020102020204" pitchFamily="34" charset="0"/>
            </a:rPr>
            <a:t>Постановка</a:t>
          </a:r>
          <a:r>
            <a:rPr lang="ru-RU" sz="1800" dirty="0">
              <a:latin typeface="Franklin Gothic Book" panose="020B0503020102020204" pitchFamily="34" charset="0"/>
            </a:rPr>
            <a:t> </a:t>
          </a:r>
          <a:r>
            <a:rPr lang="ru-RU" sz="1800" dirty="0">
              <a:solidFill>
                <a:srgbClr val="525252"/>
              </a:solidFill>
              <a:latin typeface="Franklin Gothic Book" panose="020B0503020102020204" pitchFamily="34" charset="0"/>
            </a:rPr>
            <a:t>задачи</a:t>
          </a:r>
        </a:p>
      </dgm:t>
    </dgm:pt>
    <dgm:pt modelId="{FB1DAED2-9CBB-4D4E-B56B-C6756992F232}" type="parTrans" cxnId="{11799D47-675F-F941-A387-ACB67FC512C0}">
      <dgm:prSet/>
      <dgm:spPr/>
      <dgm:t>
        <a:bodyPr/>
        <a:lstStyle/>
        <a:p>
          <a:endParaRPr lang="ru-RU" sz="1800"/>
        </a:p>
      </dgm:t>
    </dgm:pt>
    <dgm:pt modelId="{CD3F9826-F61A-1A48-8263-0A3722479560}" type="sibTrans" cxnId="{11799D47-675F-F941-A387-ACB67FC512C0}">
      <dgm:prSet/>
      <dgm:spPr/>
      <dgm:t>
        <a:bodyPr/>
        <a:lstStyle/>
        <a:p>
          <a:endParaRPr lang="ru-RU" sz="1800"/>
        </a:p>
      </dgm:t>
    </dgm:pt>
    <dgm:pt modelId="{48DA8B59-9C0F-4799-B3D9-6DFA18686797}" type="pres">
      <dgm:prSet presAssocID="{A93EEBA5-02AC-4B42-A6E3-C428E5357231}" presName="root" presStyleCnt="0">
        <dgm:presLayoutVars>
          <dgm:dir/>
          <dgm:resizeHandles val="exact"/>
        </dgm:presLayoutVars>
      </dgm:prSet>
      <dgm:spPr/>
    </dgm:pt>
    <dgm:pt modelId="{19702A26-B008-4218-BEEE-C9822E6C8C9B}" type="pres">
      <dgm:prSet presAssocID="{3198E84B-65BA-4F9D-BAF8-5F04BA32FACD}" presName="compNode" presStyleCnt="0"/>
      <dgm:spPr/>
    </dgm:pt>
    <dgm:pt modelId="{42553248-2963-495C-A4BE-D1310B1D52A6}" type="pres">
      <dgm:prSet presAssocID="{3198E84B-65BA-4F9D-BAF8-5F04BA32FACD}" presName="bgRect" presStyleLbl="bgShp" presStyleIdx="0" presStyleCnt="4"/>
      <dgm:spPr/>
    </dgm:pt>
    <dgm:pt modelId="{D033368A-DB94-4770-993B-727234F91ACE}" type="pres">
      <dgm:prSet presAssocID="{3198E84B-65BA-4F9D-BAF8-5F04BA32FACD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Схема контур"/>
        </a:ext>
      </dgm:extLst>
    </dgm:pt>
    <dgm:pt modelId="{FE6C3FB7-9D69-408A-A850-3E3F7C8C0F9A}" type="pres">
      <dgm:prSet presAssocID="{3198E84B-65BA-4F9D-BAF8-5F04BA32FACD}" presName="spaceRect" presStyleCnt="0"/>
      <dgm:spPr/>
    </dgm:pt>
    <dgm:pt modelId="{52C95970-9B71-4212-BE39-0710160D0E54}" type="pres">
      <dgm:prSet presAssocID="{3198E84B-65BA-4F9D-BAF8-5F04BA32FACD}" presName="parTx" presStyleLbl="revTx" presStyleIdx="0" presStyleCnt="4">
        <dgm:presLayoutVars>
          <dgm:chMax val="0"/>
          <dgm:chPref val="0"/>
        </dgm:presLayoutVars>
      </dgm:prSet>
      <dgm:spPr/>
    </dgm:pt>
    <dgm:pt modelId="{D1BC032C-81F1-447C-845D-A31D440040A3}" type="pres">
      <dgm:prSet presAssocID="{53F023EE-EE82-4F1B-8FBE-CF23CF4D6CEB}" presName="sibTrans" presStyleCnt="0"/>
      <dgm:spPr/>
    </dgm:pt>
    <dgm:pt modelId="{4315D227-F171-EC4B-81E0-0C0A3DCEAFAA}" type="pres">
      <dgm:prSet presAssocID="{ECB99DE4-2D87-2140-B647-B98CDA193301}" presName="compNode" presStyleCnt="0"/>
      <dgm:spPr/>
    </dgm:pt>
    <dgm:pt modelId="{91E6B908-23A5-6B4F-A7E5-5416424FD560}" type="pres">
      <dgm:prSet presAssocID="{ECB99DE4-2D87-2140-B647-B98CDA193301}" presName="bgRect" presStyleLbl="bgShp" presStyleIdx="1" presStyleCnt="4"/>
      <dgm:spPr/>
    </dgm:pt>
    <dgm:pt modelId="{684528F1-5DBF-CE4C-8578-2C9CBC5B1FC6}" type="pres">
      <dgm:prSet presAssocID="{ECB99DE4-2D87-2140-B647-B98CDA193301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Головоломка контур"/>
        </a:ext>
      </dgm:extLst>
    </dgm:pt>
    <dgm:pt modelId="{026D36D9-85FE-B74A-8983-F75544C40223}" type="pres">
      <dgm:prSet presAssocID="{ECB99DE4-2D87-2140-B647-B98CDA193301}" presName="spaceRect" presStyleCnt="0"/>
      <dgm:spPr/>
    </dgm:pt>
    <dgm:pt modelId="{63FC43D0-7FAC-4C41-8037-D6209D03E677}" type="pres">
      <dgm:prSet presAssocID="{ECB99DE4-2D87-2140-B647-B98CDA193301}" presName="parTx" presStyleLbl="revTx" presStyleIdx="1" presStyleCnt="4">
        <dgm:presLayoutVars>
          <dgm:chMax val="0"/>
          <dgm:chPref val="0"/>
        </dgm:presLayoutVars>
      </dgm:prSet>
      <dgm:spPr/>
    </dgm:pt>
    <dgm:pt modelId="{0AB81BE2-6B23-EC42-815B-D38B05A80472}" type="pres">
      <dgm:prSet presAssocID="{CD3F9826-F61A-1A48-8263-0A3722479560}" presName="sibTrans" presStyleCnt="0"/>
      <dgm:spPr/>
    </dgm:pt>
    <dgm:pt modelId="{59CD78EF-DAAA-40C6-99ED-3E2A2EA8B8D5}" type="pres">
      <dgm:prSet presAssocID="{E5A0F9C7-C3C7-4194-BAF5-CE683BC41C6A}" presName="compNode" presStyleCnt="0"/>
      <dgm:spPr/>
    </dgm:pt>
    <dgm:pt modelId="{222886E3-95FC-4FA2-BD98-DD1AC9328C69}" type="pres">
      <dgm:prSet presAssocID="{E5A0F9C7-C3C7-4194-BAF5-CE683BC41C6A}" presName="bgRect" presStyleLbl="bgShp" presStyleIdx="2" presStyleCnt="4"/>
      <dgm:spPr/>
    </dgm:pt>
    <dgm:pt modelId="{7344817A-B50F-4407-98F3-A00C5415E9F9}" type="pres">
      <dgm:prSet presAssocID="{E5A0F9C7-C3C7-4194-BAF5-CE683BC41C6A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Жук под увеличительным стеклом контур"/>
        </a:ext>
      </dgm:extLst>
    </dgm:pt>
    <dgm:pt modelId="{B2C96E10-4317-41F7-9949-66F46D469A1B}" type="pres">
      <dgm:prSet presAssocID="{E5A0F9C7-C3C7-4194-BAF5-CE683BC41C6A}" presName="spaceRect" presStyleCnt="0"/>
      <dgm:spPr/>
    </dgm:pt>
    <dgm:pt modelId="{979939CE-033D-41C9-A067-E02544E43F47}" type="pres">
      <dgm:prSet presAssocID="{E5A0F9C7-C3C7-4194-BAF5-CE683BC41C6A}" presName="parTx" presStyleLbl="revTx" presStyleIdx="2" presStyleCnt="4">
        <dgm:presLayoutVars>
          <dgm:chMax val="0"/>
          <dgm:chPref val="0"/>
        </dgm:presLayoutVars>
      </dgm:prSet>
      <dgm:spPr/>
    </dgm:pt>
    <dgm:pt modelId="{6F33DA33-0931-48C0-ABA0-8F3C61692CD4}" type="pres">
      <dgm:prSet presAssocID="{BA0CEAAF-E3CB-4E09-917C-5AD9DE55A11A}" presName="sibTrans" presStyleCnt="0"/>
      <dgm:spPr/>
    </dgm:pt>
    <dgm:pt modelId="{80DA252E-D3AC-460A-95AC-E96F7FF52200}" type="pres">
      <dgm:prSet presAssocID="{1FB7BD05-324B-4B24-939B-6510D2168420}" presName="compNode" presStyleCnt="0"/>
      <dgm:spPr/>
    </dgm:pt>
    <dgm:pt modelId="{200AB39E-B6A3-4177-BB11-A574DE99197B}" type="pres">
      <dgm:prSet presAssocID="{1FB7BD05-324B-4B24-939B-6510D2168420}" presName="bgRect" presStyleLbl="bgShp" presStyleIdx="3" presStyleCnt="4"/>
      <dgm:spPr/>
    </dgm:pt>
    <dgm:pt modelId="{4F539DBA-F720-4FCA-B8F1-82F9F23C0DD8}" type="pres">
      <dgm:prSet presAssocID="{1FB7BD05-324B-4B24-939B-6510D2168420}" presName="iconRect" presStyleLbl="node1" presStyleIdx="3" presStyleCnt="4" custLinFactNeighborX="-120"/>
      <dgm:spPr>
        <a:blipFill>
          <a:blip xmlns:r="http://schemas.openxmlformats.org/officeDocument/2006/relationships"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Предложение и спрос контур"/>
        </a:ext>
      </dgm:extLst>
    </dgm:pt>
    <dgm:pt modelId="{8A4C8907-C106-4906-A3D3-E09417DA0D7B}" type="pres">
      <dgm:prSet presAssocID="{1FB7BD05-324B-4B24-939B-6510D2168420}" presName="spaceRect" presStyleCnt="0"/>
      <dgm:spPr/>
    </dgm:pt>
    <dgm:pt modelId="{7041CFF1-2E8F-4470-BDEB-E54EC1EDCDE9}" type="pres">
      <dgm:prSet presAssocID="{1FB7BD05-324B-4B24-939B-6510D2168420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947E7D01-C5A7-4510-9040-87973D4E14E3}" srcId="{A93EEBA5-02AC-4B42-A6E3-C428E5357231}" destId="{3198E84B-65BA-4F9D-BAF8-5F04BA32FACD}" srcOrd="0" destOrd="0" parTransId="{655DE470-E12F-489C-9292-3D8D9755015E}" sibTransId="{53F023EE-EE82-4F1B-8FBE-CF23CF4D6CEB}"/>
    <dgm:cxn modelId="{C8383402-17A1-4525-A34F-BCD1BE2CF7F3}" type="presOf" srcId="{E5A0F9C7-C3C7-4194-BAF5-CE683BC41C6A}" destId="{979939CE-033D-41C9-A067-E02544E43F47}" srcOrd="0" destOrd="0" presId="urn:microsoft.com/office/officeart/2018/2/layout/IconVerticalSolidList"/>
    <dgm:cxn modelId="{DB3EB404-5506-4001-B06C-86CB236782F4}" srcId="{A93EEBA5-02AC-4B42-A6E3-C428E5357231}" destId="{1FB7BD05-324B-4B24-939B-6510D2168420}" srcOrd="3" destOrd="0" parTransId="{859CD8B6-38EE-43EA-AD30-7E9330910A32}" sibTransId="{7510A7B3-6AD6-4FBA-A0D5-C902E97D57E7}"/>
    <dgm:cxn modelId="{68879C12-FC68-CA44-AA77-911AF82E3B3F}" type="presOf" srcId="{ECB99DE4-2D87-2140-B647-B98CDA193301}" destId="{63FC43D0-7FAC-4C41-8037-D6209D03E677}" srcOrd="0" destOrd="0" presId="urn:microsoft.com/office/officeart/2018/2/layout/IconVerticalSolidList"/>
    <dgm:cxn modelId="{9F9EC926-B839-4C23-A93A-C45BF81EC6CB}" type="presOf" srcId="{A93EEBA5-02AC-4B42-A6E3-C428E5357231}" destId="{48DA8B59-9C0F-4799-B3D9-6DFA18686797}" srcOrd="0" destOrd="0" presId="urn:microsoft.com/office/officeart/2018/2/layout/IconVerticalSolidList"/>
    <dgm:cxn modelId="{15727F5E-D594-4DAF-BCE9-2F7AB3EC8E69}" type="presOf" srcId="{3198E84B-65BA-4F9D-BAF8-5F04BA32FACD}" destId="{52C95970-9B71-4212-BE39-0710160D0E54}" srcOrd="0" destOrd="0" presId="urn:microsoft.com/office/officeart/2018/2/layout/IconVerticalSolidList"/>
    <dgm:cxn modelId="{11799D47-675F-F941-A387-ACB67FC512C0}" srcId="{A93EEBA5-02AC-4B42-A6E3-C428E5357231}" destId="{ECB99DE4-2D87-2140-B647-B98CDA193301}" srcOrd="1" destOrd="0" parTransId="{FB1DAED2-9CBB-4D4E-B56B-C6756992F232}" sibTransId="{CD3F9826-F61A-1A48-8263-0A3722479560}"/>
    <dgm:cxn modelId="{64D89B6B-0727-45F0-94FB-E0913294F0DE}" srcId="{A93EEBA5-02AC-4B42-A6E3-C428E5357231}" destId="{E5A0F9C7-C3C7-4194-BAF5-CE683BC41C6A}" srcOrd="2" destOrd="0" parTransId="{1E3D03D8-38FD-40FD-93F9-5587B2E6B9E6}" sibTransId="{BA0CEAAF-E3CB-4E09-917C-5AD9DE55A11A}"/>
    <dgm:cxn modelId="{C8380554-7391-4C07-A941-3B0306BCBD0A}" type="presOf" srcId="{1FB7BD05-324B-4B24-939B-6510D2168420}" destId="{7041CFF1-2E8F-4470-BDEB-E54EC1EDCDE9}" srcOrd="0" destOrd="0" presId="urn:microsoft.com/office/officeart/2018/2/layout/IconVerticalSolidList"/>
    <dgm:cxn modelId="{0701EE27-4D73-4370-ADE4-37C514412E95}" type="presParOf" srcId="{48DA8B59-9C0F-4799-B3D9-6DFA18686797}" destId="{19702A26-B008-4218-BEEE-C9822E6C8C9B}" srcOrd="0" destOrd="0" presId="urn:microsoft.com/office/officeart/2018/2/layout/IconVerticalSolidList"/>
    <dgm:cxn modelId="{742693EC-2D9E-4E55-8A62-041C1449914C}" type="presParOf" srcId="{19702A26-B008-4218-BEEE-C9822E6C8C9B}" destId="{42553248-2963-495C-A4BE-D1310B1D52A6}" srcOrd="0" destOrd="0" presId="urn:microsoft.com/office/officeart/2018/2/layout/IconVerticalSolidList"/>
    <dgm:cxn modelId="{74858ED2-D1EA-4634-A583-D981AC58E70B}" type="presParOf" srcId="{19702A26-B008-4218-BEEE-C9822E6C8C9B}" destId="{D033368A-DB94-4770-993B-727234F91ACE}" srcOrd="1" destOrd="0" presId="urn:microsoft.com/office/officeart/2018/2/layout/IconVerticalSolidList"/>
    <dgm:cxn modelId="{05ACC90F-6A45-406B-8B5C-FCB968933863}" type="presParOf" srcId="{19702A26-B008-4218-BEEE-C9822E6C8C9B}" destId="{FE6C3FB7-9D69-408A-A850-3E3F7C8C0F9A}" srcOrd="2" destOrd="0" presId="urn:microsoft.com/office/officeart/2018/2/layout/IconVerticalSolidList"/>
    <dgm:cxn modelId="{827D28AB-6F80-4CA5-A2A2-E555FF620923}" type="presParOf" srcId="{19702A26-B008-4218-BEEE-C9822E6C8C9B}" destId="{52C95970-9B71-4212-BE39-0710160D0E54}" srcOrd="3" destOrd="0" presId="urn:microsoft.com/office/officeart/2018/2/layout/IconVerticalSolidList"/>
    <dgm:cxn modelId="{7F76F58D-0FDE-40CA-AA24-95F7008BD639}" type="presParOf" srcId="{48DA8B59-9C0F-4799-B3D9-6DFA18686797}" destId="{D1BC032C-81F1-447C-845D-A31D440040A3}" srcOrd="1" destOrd="0" presId="urn:microsoft.com/office/officeart/2018/2/layout/IconVerticalSolidList"/>
    <dgm:cxn modelId="{7FEE2193-BAE8-DE4F-8636-C3A614FE1D32}" type="presParOf" srcId="{48DA8B59-9C0F-4799-B3D9-6DFA18686797}" destId="{4315D227-F171-EC4B-81E0-0C0A3DCEAFAA}" srcOrd="2" destOrd="0" presId="urn:microsoft.com/office/officeart/2018/2/layout/IconVerticalSolidList"/>
    <dgm:cxn modelId="{FAEB7039-01B4-D24A-927C-E86E6C53AE86}" type="presParOf" srcId="{4315D227-F171-EC4B-81E0-0C0A3DCEAFAA}" destId="{91E6B908-23A5-6B4F-A7E5-5416424FD560}" srcOrd="0" destOrd="0" presId="urn:microsoft.com/office/officeart/2018/2/layout/IconVerticalSolidList"/>
    <dgm:cxn modelId="{FB131ED0-1E98-C544-8F09-84B96B934235}" type="presParOf" srcId="{4315D227-F171-EC4B-81E0-0C0A3DCEAFAA}" destId="{684528F1-5DBF-CE4C-8578-2C9CBC5B1FC6}" srcOrd="1" destOrd="0" presId="urn:microsoft.com/office/officeart/2018/2/layout/IconVerticalSolidList"/>
    <dgm:cxn modelId="{975AFBCE-6E28-794F-9940-8AA315715A59}" type="presParOf" srcId="{4315D227-F171-EC4B-81E0-0C0A3DCEAFAA}" destId="{026D36D9-85FE-B74A-8983-F75544C40223}" srcOrd="2" destOrd="0" presId="urn:microsoft.com/office/officeart/2018/2/layout/IconVerticalSolidList"/>
    <dgm:cxn modelId="{4297D41B-3859-C648-9570-A8B7D5EA1161}" type="presParOf" srcId="{4315D227-F171-EC4B-81E0-0C0A3DCEAFAA}" destId="{63FC43D0-7FAC-4C41-8037-D6209D03E677}" srcOrd="3" destOrd="0" presId="urn:microsoft.com/office/officeart/2018/2/layout/IconVerticalSolidList"/>
    <dgm:cxn modelId="{6760FF8A-552D-6641-B35D-7B93C5AAF138}" type="presParOf" srcId="{48DA8B59-9C0F-4799-B3D9-6DFA18686797}" destId="{0AB81BE2-6B23-EC42-815B-D38B05A80472}" srcOrd="3" destOrd="0" presId="urn:microsoft.com/office/officeart/2018/2/layout/IconVerticalSolidList"/>
    <dgm:cxn modelId="{0F4D37DF-A438-413D-9001-A621395F8428}" type="presParOf" srcId="{48DA8B59-9C0F-4799-B3D9-6DFA18686797}" destId="{59CD78EF-DAAA-40C6-99ED-3E2A2EA8B8D5}" srcOrd="4" destOrd="0" presId="urn:microsoft.com/office/officeart/2018/2/layout/IconVerticalSolidList"/>
    <dgm:cxn modelId="{89AEF687-727E-4D5E-B6F3-CEA8D8838145}" type="presParOf" srcId="{59CD78EF-DAAA-40C6-99ED-3E2A2EA8B8D5}" destId="{222886E3-95FC-4FA2-BD98-DD1AC9328C69}" srcOrd="0" destOrd="0" presId="urn:microsoft.com/office/officeart/2018/2/layout/IconVerticalSolidList"/>
    <dgm:cxn modelId="{F62C6B5D-738E-4DBC-A277-F4DED0F9AFB7}" type="presParOf" srcId="{59CD78EF-DAAA-40C6-99ED-3E2A2EA8B8D5}" destId="{7344817A-B50F-4407-98F3-A00C5415E9F9}" srcOrd="1" destOrd="0" presId="urn:microsoft.com/office/officeart/2018/2/layout/IconVerticalSolidList"/>
    <dgm:cxn modelId="{2C2F2A76-5576-4E8D-A79E-F7F4C1FA8149}" type="presParOf" srcId="{59CD78EF-DAAA-40C6-99ED-3E2A2EA8B8D5}" destId="{B2C96E10-4317-41F7-9949-66F46D469A1B}" srcOrd="2" destOrd="0" presId="urn:microsoft.com/office/officeart/2018/2/layout/IconVerticalSolidList"/>
    <dgm:cxn modelId="{E5DB0C11-ED99-4701-9ECC-73BF8DC61E92}" type="presParOf" srcId="{59CD78EF-DAAA-40C6-99ED-3E2A2EA8B8D5}" destId="{979939CE-033D-41C9-A067-E02544E43F47}" srcOrd="3" destOrd="0" presId="urn:microsoft.com/office/officeart/2018/2/layout/IconVerticalSolidList"/>
    <dgm:cxn modelId="{E2E839D8-3000-4FB0-A024-2AB4D0FAB6F6}" type="presParOf" srcId="{48DA8B59-9C0F-4799-B3D9-6DFA18686797}" destId="{6F33DA33-0931-48C0-ABA0-8F3C61692CD4}" srcOrd="5" destOrd="0" presId="urn:microsoft.com/office/officeart/2018/2/layout/IconVerticalSolidList"/>
    <dgm:cxn modelId="{D4399D80-395B-453F-9F75-9F33D34E884F}" type="presParOf" srcId="{48DA8B59-9C0F-4799-B3D9-6DFA18686797}" destId="{80DA252E-D3AC-460A-95AC-E96F7FF52200}" srcOrd="6" destOrd="0" presId="urn:microsoft.com/office/officeart/2018/2/layout/IconVerticalSolidList"/>
    <dgm:cxn modelId="{2A53BCE5-E05E-4052-9EE7-184B4CE5F351}" type="presParOf" srcId="{80DA252E-D3AC-460A-95AC-E96F7FF52200}" destId="{200AB39E-B6A3-4177-BB11-A574DE99197B}" srcOrd="0" destOrd="0" presId="urn:microsoft.com/office/officeart/2018/2/layout/IconVerticalSolidList"/>
    <dgm:cxn modelId="{B259A93C-69C0-4CB1-90E2-FAEC0FDED624}" type="presParOf" srcId="{80DA252E-D3AC-460A-95AC-E96F7FF52200}" destId="{4F539DBA-F720-4FCA-B8F1-82F9F23C0DD8}" srcOrd="1" destOrd="0" presId="urn:microsoft.com/office/officeart/2018/2/layout/IconVerticalSolidList"/>
    <dgm:cxn modelId="{DFD49BFD-3BD4-450A-BD83-9509FD800507}" type="presParOf" srcId="{80DA252E-D3AC-460A-95AC-E96F7FF52200}" destId="{8A4C8907-C106-4906-A3D3-E09417DA0D7B}" srcOrd="2" destOrd="0" presId="urn:microsoft.com/office/officeart/2018/2/layout/IconVerticalSolidList"/>
    <dgm:cxn modelId="{3D9AEBBF-6DD5-4B46-A5EC-8892865A3B45}" type="presParOf" srcId="{80DA252E-D3AC-460A-95AC-E96F7FF52200}" destId="{7041CFF1-2E8F-4470-BDEB-E54EC1EDCDE9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2553248-2963-495C-A4BE-D1310B1D52A6}">
      <dsp:nvSpPr>
        <dsp:cNvPr id="0" name=""/>
        <dsp:cNvSpPr/>
      </dsp:nvSpPr>
      <dsp:spPr>
        <a:xfrm>
          <a:off x="0" y="2022"/>
          <a:ext cx="6172199" cy="102517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033368A-DB94-4770-993B-727234F91ACE}">
      <dsp:nvSpPr>
        <dsp:cNvPr id="0" name=""/>
        <dsp:cNvSpPr/>
      </dsp:nvSpPr>
      <dsp:spPr>
        <a:xfrm>
          <a:off x="310115" y="232687"/>
          <a:ext cx="563846" cy="56384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2C95970-9B71-4212-BE39-0710160D0E54}">
      <dsp:nvSpPr>
        <dsp:cNvPr id="0" name=""/>
        <dsp:cNvSpPr/>
      </dsp:nvSpPr>
      <dsp:spPr>
        <a:xfrm>
          <a:off x="1184076" y="2022"/>
          <a:ext cx="4988123" cy="10251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8498" tIns="108498" rIns="108498" bIns="108498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kern="1200" dirty="0">
              <a:solidFill>
                <a:srgbClr val="525252"/>
              </a:solidFill>
              <a:latin typeface="Franklin Gothic Book" panose="020B0503020102020204" pitchFamily="34" charset="0"/>
            </a:rPr>
            <a:t>Краткая теоретическая справка, обсуждение математической модели маятника</a:t>
          </a:r>
        </a:p>
      </dsp:txBody>
      <dsp:txXfrm>
        <a:off x="1184076" y="2022"/>
        <a:ext cx="4988123" cy="1025174"/>
      </dsp:txXfrm>
    </dsp:sp>
    <dsp:sp modelId="{91E6B908-23A5-6B4F-A7E5-5416424FD560}">
      <dsp:nvSpPr>
        <dsp:cNvPr id="0" name=""/>
        <dsp:cNvSpPr/>
      </dsp:nvSpPr>
      <dsp:spPr>
        <a:xfrm>
          <a:off x="0" y="1283491"/>
          <a:ext cx="6172199" cy="102517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84528F1-5DBF-CE4C-8578-2C9CBC5B1FC6}">
      <dsp:nvSpPr>
        <dsp:cNvPr id="0" name=""/>
        <dsp:cNvSpPr/>
      </dsp:nvSpPr>
      <dsp:spPr>
        <a:xfrm>
          <a:off x="310115" y="1514155"/>
          <a:ext cx="563846" cy="56384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3FC43D0-7FAC-4C41-8037-D6209D03E677}">
      <dsp:nvSpPr>
        <dsp:cNvPr id="0" name=""/>
        <dsp:cNvSpPr/>
      </dsp:nvSpPr>
      <dsp:spPr>
        <a:xfrm>
          <a:off x="1184076" y="1283491"/>
          <a:ext cx="4988123" cy="10251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8498" tIns="108498" rIns="108498" bIns="108498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kern="1200" dirty="0">
              <a:solidFill>
                <a:srgbClr val="525252"/>
              </a:solidFill>
              <a:latin typeface="Franklin Gothic Book" panose="020B0503020102020204" pitchFamily="34" charset="0"/>
            </a:rPr>
            <a:t>Постановка</a:t>
          </a:r>
          <a:r>
            <a:rPr lang="ru-RU" sz="1800" kern="1200" dirty="0">
              <a:latin typeface="Franklin Gothic Book" panose="020B0503020102020204" pitchFamily="34" charset="0"/>
            </a:rPr>
            <a:t> </a:t>
          </a:r>
          <a:r>
            <a:rPr lang="ru-RU" sz="1800" kern="1200" dirty="0">
              <a:solidFill>
                <a:srgbClr val="525252"/>
              </a:solidFill>
              <a:latin typeface="Franklin Gothic Book" panose="020B0503020102020204" pitchFamily="34" charset="0"/>
            </a:rPr>
            <a:t>задачи</a:t>
          </a:r>
        </a:p>
      </dsp:txBody>
      <dsp:txXfrm>
        <a:off x="1184076" y="1283491"/>
        <a:ext cx="4988123" cy="1025174"/>
      </dsp:txXfrm>
    </dsp:sp>
    <dsp:sp modelId="{222886E3-95FC-4FA2-BD98-DD1AC9328C69}">
      <dsp:nvSpPr>
        <dsp:cNvPr id="0" name=""/>
        <dsp:cNvSpPr/>
      </dsp:nvSpPr>
      <dsp:spPr>
        <a:xfrm>
          <a:off x="0" y="2564959"/>
          <a:ext cx="6172199" cy="102517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344817A-B50F-4407-98F3-A00C5415E9F9}">
      <dsp:nvSpPr>
        <dsp:cNvPr id="0" name=""/>
        <dsp:cNvSpPr/>
      </dsp:nvSpPr>
      <dsp:spPr>
        <a:xfrm>
          <a:off x="310115" y="2795623"/>
          <a:ext cx="563846" cy="56384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79939CE-033D-41C9-A067-E02544E43F47}">
      <dsp:nvSpPr>
        <dsp:cNvPr id="0" name=""/>
        <dsp:cNvSpPr/>
      </dsp:nvSpPr>
      <dsp:spPr>
        <a:xfrm>
          <a:off x="1184076" y="2564959"/>
          <a:ext cx="4988123" cy="10251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8498" tIns="108498" rIns="108498" bIns="108498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kern="1200" dirty="0">
              <a:solidFill>
                <a:srgbClr val="525252"/>
              </a:solidFill>
              <a:latin typeface="Franklin Gothic Book" panose="020B0503020102020204" pitchFamily="34" charset="0"/>
            </a:rPr>
            <a:t>Рассмотрение инструментов исследования модели, знакомство с </a:t>
          </a:r>
          <a:r>
            <a:rPr lang="en-US" sz="1800" kern="1200" dirty="0">
              <a:solidFill>
                <a:srgbClr val="525252"/>
              </a:solidFill>
              <a:latin typeface="Franklin Gothic Book" panose="020B0503020102020204" pitchFamily="34" charset="0"/>
            </a:rPr>
            <a:t>PID-</a:t>
          </a:r>
          <a:r>
            <a:rPr lang="ru-RU" sz="1800" kern="1200" dirty="0">
              <a:solidFill>
                <a:srgbClr val="525252"/>
              </a:solidFill>
              <a:latin typeface="Franklin Gothic Book" panose="020B0503020102020204" pitchFamily="34" charset="0"/>
            </a:rPr>
            <a:t>регуляторами</a:t>
          </a:r>
        </a:p>
      </dsp:txBody>
      <dsp:txXfrm>
        <a:off x="1184076" y="2564959"/>
        <a:ext cx="4988123" cy="1025174"/>
      </dsp:txXfrm>
    </dsp:sp>
    <dsp:sp modelId="{200AB39E-B6A3-4177-BB11-A574DE99197B}">
      <dsp:nvSpPr>
        <dsp:cNvPr id="0" name=""/>
        <dsp:cNvSpPr/>
      </dsp:nvSpPr>
      <dsp:spPr>
        <a:xfrm>
          <a:off x="0" y="3846427"/>
          <a:ext cx="6172199" cy="102517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F539DBA-F720-4FCA-B8F1-82F9F23C0DD8}">
      <dsp:nvSpPr>
        <dsp:cNvPr id="0" name=""/>
        <dsp:cNvSpPr/>
      </dsp:nvSpPr>
      <dsp:spPr>
        <a:xfrm>
          <a:off x="309438" y="4077091"/>
          <a:ext cx="563846" cy="56384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041CFF1-2E8F-4470-BDEB-E54EC1EDCDE9}">
      <dsp:nvSpPr>
        <dsp:cNvPr id="0" name=""/>
        <dsp:cNvSpPr/>
      </dsp:nvSpPr>
      <dsp:spPr>
        <a:xfrm>
          <a:off x="1184076" y="3846427"/>
          <a:ext cx="4988123" cy="10251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8498" tIns="108498" rIns="108498" bIns="108498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kern="1200" dirty="0">
              <a:solidFill>
                <a:srgbClr val="525252"/>
              </a:solidFill>
              <a:latin typeface="Franklin Gothic Book" panose="020B0503020102020204" pitchFamily="34" charset="0"/>
            </a:rPr>
            <a:t>Самостоятельное построение модели маятника, исследование и написание отчета</a:t>
          </a:r>
        </a:p>
      </dsp:txBody>
      <dsp:txXfrm>
        <a:off x="1184076" y="3846427"/>
        <a:ext cx="4988123" cy="102517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03BB299-84E0-4C30-A652-09FD66340CE0}" type="datetimeFigureOut">
              <a:rPr lang="ru-RU" smtClean="0"/>
              <a:t>07.04.2021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9A34293-FC46-4935-B81C-2C1776F4C90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101368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A34293-FC46-4935-B81C-2C1776F4C90C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581923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A34293-FC46-4935-B81C-2C1776F4C90C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467964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39D3CBD-B0C9-4BEB-BCC8-254ADD24444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sz="7200"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96538E53-C2F7-4FE5-8AA8-A8E289D24F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3200">
                <a:solidFill>
                  <a:srgbClr val="7C7C7C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DB940B2-DFCD-459B-929D-4172B2AA95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3BB69-6BFD-4C26-A339-5E9E8CC6633D}" type="datetimeFigureOut">
              <a:rPr lang="ru-RU" smtClean="0"/>
              <a:t>07.04.2021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A2CF65A-EFBB-488B-A837-FD0CB08E3E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407DCAD-B280-4A9C-A927-AEBDC7E4C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92C5EB"/>
                </a:solidFill>
              </a:defRPr>
            </a:lvl1pPr>
          </a:lstStyle>
          <a:p>
            <a:fld id="{7F4F15D9-1CBD-49A9-AA3B-7C1E6009AF83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804CF0C4-F3A8-420F-98C5-0ABD861B983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580" y="136525"/>
            <a:ext cx="1133240" cy="1133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76251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3DEA3AC-EB88-4DE7-B61E-E16CB541984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34E22F4-2D83-4CA4-A39F-6D2E6A3B6E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2D59241-A042-4CE2-9362-6F13003169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3BB69-6BFD-4C26-A339-5E9E8CC6633D}" type="datetimeFigureOut">
              <a:rPr lang="ru-RU" smtClean="0"/>
              <a:t>07.04.2021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56F980A-7325-4A22-B073-2A075F12CA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45A5A74-5D3D-416D-B4F3-AB0A8D1398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F15D9-1CBD-49A9-AA3B-7C1E6009AF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762861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DFB60F2-98B0-4C47-AD67-F5FA5CAD5F7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380352C-FCA1-4B7B-9315-4DCC488AEF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38B8623-5AD8-473E-AE74-56408B24EA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3BB69-6BFD-4C26-A339-5E9E8CC6633D}" type="datetimeFigureOut">
              <a:rPr lang="ru-RU" smtClean="0"/>
              <a:t>07.04.2021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8596E8B-09B2-4153-AD8F-ED0B57E5F3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8134094-6ACD-45AE-B725-7DE0CB675C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F15D9-1CBD-49A9-AA3B-7C1E6009AF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390261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E8BFC8A-CCA3-4281-925A-1CEA377EDE1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F4641D2-BBD7-4006-9705-D6C96E3D71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22E8741-7FA3-46CE-B955-A5B9DDFF13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F1A1A66-C1B9-4FA2-9FC4-B3F469D652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3BB69-6BFD-4C26-A339-5E9E8CC6633D}" type="datetimeFigureOut">
              <a:rPr lang="ru-RU" smtClean="0"/>
              <a:t>07.04.2021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21FE2D1-4F5D-4AEA-BD4F-E3CD1341A7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0312E64-41E7-4AFF-A120-A2DC3AC4D7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F15D9-1CBD-49A9-AA3B-7C1E6009AF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053762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1A07060-4BB5-49CA-88E3-F30819B02D1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EBBB123-C019-421A-AD18-0025190FD9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D90D93A0-D53B-497A-9391-FFE0D4F0F3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7A31EA8B-6CEA-487A-8C7C-3CCA9B29C46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B05246B6-6A8E-4DAA-969C-6B1D0142266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B01BAFB8-F96F-4A74-8EBB-1634979868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3BB69-6BFD-4C26-A339-5E9E8CC6633D}" type="datetimeFigureOut">
              <a:rPr lang="ru-RU" smtClean="0"/>
              <a:t>07.04.2021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1475C18D-20FD-4901-AD5A-F61CD7365E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6DA39C36-4E15-4FE0-AD76-C09E4696B0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F15D9-1CBD-49A9-AA3B-7C1E6009AF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444800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5EAE0ED-EE0F-4FEA-AB01-026812BFC68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0FB31D92-BB61-4439-B6FA-580801F908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3BB69-6BFD-4C26-A339-5E9E8CC6633D}" type="datetimeFigureOut">
              <a:rPr lang="ru-RU" smtClean="0"/>
              <a:t>07.04.2021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65543C38-EFC4-4746-8CFB-98DAC22847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62233601-8065-43D8-946C-EF61E9D0A2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F15D9-1CBD-49A9-AA3B-7C1E6009AF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777172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C2B290D5-1AEB-4ED5-A3AF-33ADF77209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3BB69-6BFD-4C26-A339-5E9E8CC6633D}" type="datetimeFigureOut">
              <a:rPr lang="ru-RU" smtClean="0"/>
              <a:t>07.04.2021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9B120FAF-3FC2-48DD-BE0B-1509875A58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EB49E2B-610B-4D2E-8B9C-553980A97D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F15D9-1CBD-49A9-AA3B-7C1E6009AF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981269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4A5BCC4-80AA-4C59-99F1-0068FD13130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E270A51-7555-4B27-AB2E-47A34B8F3B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40E888DE-8EE6-4047-87F5-DA3DA2BDEB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3DE46E7-EC46-47C9-8C89-C0C96DB224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3BB69-6BFD-4C26-A339-5E9E8CC6633D}" type="datetimeFigureOut">
              <a:rPr lang="ru-RU" smtClean="0"/>
              <a:t>07.04.2021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D377045-EAD4-4B68-A2EF-8B54220010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0B6CAB1-C514-4ACB-AC6E-850EE307FA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F15D9-1CBD-49A9-AA3B-7C1E6009AF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614707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EDD7410-5B75-45E6-B6C0-B53441C1CB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7F142776-2455-4769-A267-8EE3254A7E3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B9C4B51-4619-4CBC-9959-65B7961150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58A342F-F0DF-4073-BA41-92C54552D5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3BB69-6BFD-4C26-A339-5E9E8CC6633D}" type="datetimeFigureOut">
              <a:rPr lang="ru-RU" smtClean="0"/>
              <a:t>07.04.2021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E63F71D-F05B-4A94-BF91-02DBFD1530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E33102C-0C0B-4FE8-A760-6440ED39F1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F15D9-1CBD-49A9-AA3B-7C1E6009AF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692735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55625E6-6093-49CC-ACDA-314D02540F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42A143B6-4D02-47B6-8155-CA75F1B545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8F7F5ED-0486-482B-B120-064211097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3BB69-6BFD-4C26-A339-5E9E8CC6633D}" type="datetimeFigureOut">
              <a:rPr lang="ru-RU" smtClean="0"/>
              <a:t>07.04.2021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0AF7131-2D1C-43B4-844E-C0FE2131EE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4FCBC7F-3282-47D9-B41A-6C4944331C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F15D9-1CBD-49A9-AA3B-7C1E6009AF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92023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034D4D3F-C672-44AD-8FE9-8E29673ACAC4}"/>
              </a:ext>
            </a:extLst>
          </p:cNvPr>
          <p:cNvSpPr>
            <a:spLocks noGrp="1"/>
          </p:cNvSpPr>
          <p:nvPr>
            <p:ph type="title" orient="vert" hasCustomPrompt="1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13E13FAF-935A-43AB-B09A-93767A1611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16B3FA0-BF70-4CCF-9CD4-BDD5B38CDD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3BB69-6BFD-4C26-A339-5E9E8CC6633D}" type="datetimeFigureOut">
              <a:rPr lang="ru-RU" smtClean="0"/>
              <a:t>07.04.2021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BF9C712-A786-4DBD-B1C9-75C7327C3B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50DF127-C1A4-4746-B5B1-00EC964ECD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F15D9-1CBD-49A9-AA3B-7C1E6009AF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279764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0DA6CE9-AA66-4B0F-89CD-99677DFC0D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25550C2-7E0B-4502-8D80-2A11272BBD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5B07EAC-2435-41C0-9F12-3E3E00C8333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F3BB69-6BFD-4C26-A339-5E9E8CC6633D}" type="datetimeFigureOut">
              <a:rPr lang="ru-RU" smtClean="0"/>
              <a:t>07.04.2021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FBCE382-5EBC-43AC-B593-24A9CD0806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6100851-3E72-4BDD-BD33-AF33BE323A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4F15D9-1CBD-49A9-AA3B-7C1E6009AF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80044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7C7C7C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7C7C7C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7C7C7C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7C7C7C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7C7C7C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image" Target="../media/image7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.jpeg"/><Relationship Id="rId5" Type="http://schemas.openxmlformats.org/officeDocument/2006/relationships/image" Target="../media/image5.png"/><Relationship Id="rId4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8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05ADB99-23A9-475C-A074-D1EAE7ED3A8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anchor="ctr">
            <a:normAutofit/>
          </a:bodyPr>
          <a:lstStyle/>
          <a:p>
            <a:r>
              <a:rPr lang="ru-RU" sz="6600" dirty="0">
                <a:solidFill>
                  <a:srgbClr val="0072BC"/>
                </a:solidFill>
                <a:latin typeface="Arial Black" panose="020B0A04020102020204" pitchFamily="34" charset="0"/>
                <a:cs typeface="Times New Roman" panose="02020603050405020304" pitchFamily="18" charset="0"/>
              </a:rPr>
              <a:t>КУРС «</a:t>
            </a:r>
            <a:r>
              <a:rPr lang="en-US" sz="6600" dirty="0">
                <a:solidFill>
                  <a:srgbClr val="0072BC"/>
                </a:solidFill>
                <a:latin typeface="Arial Black" panose="020B0A04020102020204" pitchFamily="34" charset="0"/>
                <a:cs typeface="Times New Roman" panose="02020603050405020304" pitchFamily="18" charset="0"/>
              </a:rPr>
              <a:t>SIMULINK»</a:t>
            </a:r>
            <a:endParaRPr lang="ru-RU" sz="6600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E5841301-50CB-47A9-9E87-EE80EFEA05F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pPr>
              <a:lnSpc>
                <a:spcPct val="110000"/>
              </a:lnSpc>
            </a:pPr>
            <a:r>
              <a:rPr lang="ru-RU" sz="3200" dirty="0">
                <a:solidFill>
                  <a:srgbClr val="7C7C7C"/>
                </a:solidFill>
                <a:latin typeface="Franklin Gothic Book" panose="020B0503020102020204" pitchFamily="34" charset="0"/>
                <a:cs typeface="Times New Roman" panose="02020603050405020304" pitchFamily="18" charset="0"/>
              </a:rPr>
              <a:t>Занятие </a:t>
            </a:r>
            <a:r>
              <a:rPr lang="en-US" sz="3200" dirty="0">
                <a:solidFill>
                  <a:srgbClr val="7C7C7C"/>
                </a:solidFill>
                <a:latin typeface="Franklin Gothic Book" panose="020B0503020102020204" pitchFamily="34" charset="0"/>
                <a:cs typeface="Times New Roman" panose="02020603050405020304" pitchFamily="18" charset="0"/>
              </a:rPr>
              <a:t>3</a:t>
            </a:r>
            <a:endParaRPr lang="ru-RU" sz="3200" dirty="0">
              <a:solidFill>
                <a:srgbClr val="7C7C7C"/>
              </a:solidFill>
              <a:latin typeface="Franklin Gothic Book" panose="020B05030201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</a:pPr>
            <a:r>
              <a:rPr lang="ru-RU" sz="3200" dirty="0">
                <a:solidFill>
                  <a:srgbClr val="7C7C7C"/>
                </a:solidFill>
                <a:latin typeface="Franklin Gothic Book" panose="020B0503020102020204" pitchFamily="34" charset="0"/>
                <a:cs typeface="Times New Roman" panose="02020603050405020304" pitchFamily="18" charset="0"/>
              </a:rPr>
              <a:t>Исследование</a:t>
            </a:r>
            <a:br>
              <a:rPr lang="ru-RU" sz="3200" dirty="0">
                <a:solidFill>
                  <a:srgbClr val="7C7C7C"/>
                </a:solidFill>
                <a:latin typeface="Franklin Gothic Book" panose="020B0503020102020204" pitchFamily="34" charset="0"/>
                <a:cs typeface="Times New Roman" panose="02020603050405020304" pitchFamily="18" charset="0"/>
              </a:rPr>
            </a:br>
            <a:r>
              <a:rPr lang="ru-RU" sz="3200" dirty="0">
                <a:solidFill>
                  <a:srgbClr val="7C7C7C"/>
                </a:solidFill>
                <a:latin typeface="Franklin Gothic Book" panose="020B0503020102020204" pitchFamily="34" charset="0"/>
                <a:cs typeface="Times New Roman" panose="02020603050405020304" pitchFamily="18" charset="0"/>
              </a:rPr>
              <a:t>обратного маятника с обратной связью</a:t>
            </a:r>
          </a:p>
          <a:p>
            <a:endParaRPr lang="ru-RU" sz="3200" dirty="0"/>
          </a:p>
        </p:txBody>
      </p:sp>
    </p:spTree>
    <p:extLst>
      <p:ext uri="{BB962C8B-B14F-4D97-AF65-F5344CB8AC3E}">
        <p14:creationId xmlns:p14="http://schemas.microsoft.com/office/powerpoint/2010/main" val="32318522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6" name="Picture 8" descr="stomp rocket nasa online -">
            <a:extLst>
              <a:ext uri="{FF2B5EF4-FFF2-40B4-BE49-F238E27FC236}">
                <a16:creationId xmlns:a16="http://schemas.microsoft.com/office/drawing/2014/main" id="{38E8B481-8B79-4535-9E01-4E65B84E28B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9" t="1579" r="4147" b="1"/>
          <a:stretch/>
        </p:blipFill>
        <p:spPr bwMode="auto">
          <a:xfrm>
            <a:off x="4511664" y="1690688"/>
            <a:ext cx="2809795" cy="22461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DA6E96B-30BD-472A-9206-03FF73BFCE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КЛАССИЧЕСКАЯ ЗАДАЧА</a:t>
            </a:r>
          </a:p>
        </p:txBody>
      </p:sp>
      <p:pic>
        <p:nvPicPr>
          <p:cNvPr id="2050" name="Picture 2" descr="Не смешно. Цирк уехал – акробат остался | Своё ТВ">
            <a:extLst>
              <a:ext uri="{FF2B5EF4-FFF2-40B4-BE49-F238E27FC236}">
                <a16:creationId xmlns:a16="http://schemas.microsoft.com/office/drawing/2014/main" id="{9ED8D5FE-7F7B-49A9-9184-C9C58B52CBF3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667"/>
          <a:stretch/>
        </p:blipFill>
        <p:spPr bwMode="auto">
          <a:xfrm>
            <a:off x="1201365" y="3962356"/>
            <a:ext cx="3124201" cy="20818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Сигвей Полиция. Португалия. (cc) Chris Brown - ИА REGNUM">
            <a:extLst>
              <a:ext uri="{FF2B5EF4-FFF2-40B4-BE49-F238E27FC236}">
                <a16:creationId xmlns:a16="http://schemas.microsoft.com/office/drawing/2014/main" id="{63C5F570-7954-4B2B-968F-C06950D1B9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1366" y="1692856"/>
            <a:ext cx="3124200" cy="20818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Carbon balancing | NB Colour Print">
            <a:extLst>
              <a:ext uri="{FF2B5EF4-FFF2-40B4-BE49-F238E27FC236}">
                <a16:creationId xmlns:a16="http://schemas.microsoft.com/office/drawing/2014/main" id="{A830E8B0-8B4B-4C60-9719-66CE78755B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06774" y="-1925"/>
            <a:ext cx="3385226" cy="33852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0" name="Picture 12" descr="Самый большой в мире подъемный кран — Сообщество «Это интересно знать...»  на DRIVE2">
            <a:extLst>
              <a:ext uri="{FF2B5EF4-FFF2-40B4-BE49-F238E27FC236}">
                <a16:creationId xmlns:a16="http://schemas.microsoft.com/office/drawing/2014/main" id="{6172EAC8-6D1D-4F31-8925-1AB6BFF609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11664" y="3936847"/>
            <a:ext cx="2809795" cy="21073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4" name="Picture 2" descr="Купить Инструкция по сборке Gyroboy для Lego Mindstorms EV3 в Москве">
            <a:extLst>
              <a:ext uri="{FF2B5EF4-FFF2-40B4-BE49-F238E27FC236}">
                <a16:creationId xmlns:a16="http://schemas.microsoft.com/office/drawing/2014/main" id="{74BD3D40-D0C2-D54D-AB30-F4E95797C91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0"/>
          <a:stretch/>
        </p:blipFill>
        <p:spPr bwMode="auto">
          <a:xfrm>
            <a:off x="7736219" y="2689214"/>
            <a:ext cx="2763168" cy="33549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738080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A3C0D9E0-EE87-48B2-9880-C34EF50073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2624137"/>
            <a:ext cx="3932237" cy="1600200"/>
          </a:xfrm>
        </p:spPr>
        <p:txBody>
          <a:bodyPr>
            <a:normAutofit/>
          </a:bodyPr>
          <a:lstStyle/>
          <a:p>
            <a:r>
              <a:rPr lang="ru-RU" sz="4400" dirty="0"/>
              <a:t>ПЛАН ЗАНЯТИЯ</a:t>
            </a: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04C932B6-00FE-45B1-9FD8-172A8A4FD00A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ru-RU"/>
          </a:p>
        </p:txBody>
      </p:sp>
      <p:graphicFrame>
        <p:nvGraphicFramePr>
          <p:cNvPr id="13" name="Объект 2">
            <a:extLst>
              <a:ext uri="{FF2B5EF4-FFF2-40B4-BE49-F238E27FC236}">
                <a16:creationId xmlns:a16="http://schemas.microsoft.com/office/drawing/2014/main" id="{8E39D7D3-1926-47AD-AE01-55FFB57879D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79388370"/>
              </p:ext>
            </p:extLst>
          </p:nvPr>
        </p:nvGraphicFramePr>
        <p:xfrm>
          <a:off x="5183188" y="987425"/>
          <a:ext cx="6172200" cy="48736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892790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Объект 3">
            <a:extLst>
              <a:ext uri="{FF2B5EF4-FFF2-40B4-BE49-F238E27FC236}">
                <a16:creationId xmlns:a16="http://schemas.microsoft.com/office/drawing/2014/main" id="{D63F024D-59ED-47EA-86C8-A0D6694AA4F4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0" y="1958393"/>
            <a:ext cx="5181600" cy="4098958"/>
          </a:xfrm>
          <a:prstGeom prst="rect">
            <a:avLst/>
          </a:prstGeom>
        </p:spPr>
      </p:pic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43BA1D4D-2B0C-44B3-A721-A538AD27B5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МОДЕЛЬ ОБРАТНОГО МАЯТНИКА</a:t>
            </a:r>
          </a:p>
        </p:txBody>
      </p:sp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id="{9AE77B1C-8D1B-4485-8989-33FE7F186001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162561377"/>
              </p:ext>
            </p:extLst>
          </p:nvPr>
        </p:nvGraphicFramePr>
        <p:xfrm>
          <a:off x="4631206" y="1690688"/>
          <a:ext cx="7560794" cy="4460238"/>
        </p:xfrm>
        <a:graphic>
          <a:graphicData uri="http://schemas.openxmlformats.org/drawingml/2006/table">
            <a:tbl>
              <a:tblPr firstRow="1" bandRow="1">
                <a:noFill/>
                <a:tableStyleId>{284E427A-3D55-4303-BF80-6455036E1DE7}</a:tableStyleId>
              </a:tblPr>
              <a:tblGrid>
                <a:gridCol w="844966">
                  <a:extLst>
                    <a:ext uri="{9D8B030D-6E8A-4147-A177-3AD203B41FA5}">
                      <a16:colId xmlns:a16="http://schemas.microsoft.com/office/drawing/2014/main" val="749230030"/>
                    </a:ext>
                  </a:extLst>
                </a:gridCol>
                <a:gridCol w="2605714">
                  <a:extLst>
                    <a:ext uri="{9D8B030D-6E8A-4147-A177-3AD203B41FA5}">
                      <a16:colId xmlns:a16="http://schemas.microsoft.com/office/drawing/2014/main" val="1514024231"/>
                    </a:ext>
                  </a:extLst>
                </a:gridCol>
                <a:gridCol w="1147249">
                  <a:extLst>
                    <a:ext uri="{9D8B030D-6E8A-4147-A177-3AD203B41FA5}">
                      <a16:colId xmlns:a16="http://schemas.microsoft.com/office/drawing/2014/main" val="3936342657"/>
                    </a:ext>
                  </a:extLst>
                </a:gridCol>
                <a:gridCol w="2962865">
                  <a:extLst>
                    <a:ext uri="{9D8B030D-6E8A-4147-A177-3AD203B41FA5}">
                      <a16:colId xmlns:a16="http://schemas.microsoft.com/office/drawing/2014/main" val="526788570"/>
                    </a:ext>
                  </a:extLst>
                </a:gridCol>
              </a:tblGrid>
              <a:tr h="109050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800" b="1" i="0" kern="0" dirty="0">
                          <a:solidFill>
                            <a:srgbClr val="0072BC"/>
                          </a:solidFill>
                          <a:latin typeface="Arial Black"/>
                          <a:cs typeface="Segoe UI" panose="020B0502040204020203" pitchFamily="34" charset="0"/>
                        </a:rPr>
                        <a:t>m</a:t>
                      </a:r>
                      <a:endParaRPr lang="ru" sz="4800" b="1" i="0" kern="0" dirty="0">
                        <a:solidFill>
                          <a:srgbClr val="0072BC"/>
                        </a:solidFill>
                        <a:latin typeface="Arial Black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miter lim="800000"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400" b="0" dirty="0">
                          <a:solidFill>
                            <a:schemeClr val="accent3">
                              <a:lumMod val="75000"/>
                            </a:schemeClr>
                          </a:solidFill>
                          <a:latin typeface="Franklin Gothic Book" panose="020B0503020102020204" pitchFamily="34" charset="0"/>
                        </a:rPr>
                        <a:t>Масса грузика</a:t>
                      </a:r>
                      <a:endParaRPr lang="en-US" sz="2400" b="0" dirty="0">
                        <a:solidFill>
                          <a:schemeClr val="accent3">
                            <a:lumMod val="75000"/>
                          </a:schemeClr>
                        </a:solidFill>
                        <a:latin typeface="Franklin Gothic Book" panose="020B05030201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l-GR" sz="4400" b="1" i="0" kern="0" dirty="0">
                          <a:solidFill>
                            <a:srgbClr val="92C5EB"/>
                          </a:solidFill>
                          <a:latin typeface="Arial Black" panose="020B0604020202020204" pitchFamily="34" charset="0"/>
                          <a:cs typeface="Arial Black" panose="020B0604020202020204" pitchFamily="34" charset="0"/>
                        </a:rPr>
                        <a:t>θ</a:t>
                      </a:r>
                      <a:endParaRPr lang="ru" sz="4400" b="1" i="0" kern="0" dirty="0">
                        <a:solidFill>
                          <a:srgbClr val="92C5EB"/>
                        </a:solidFill>
                        <a:latin typeface="Arial Black" panose="020B0604020202020204" pitchFamily="34" charset="0"/>
                        <a:cs typeface="Arial Black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400" b="0" dirty="0">
                          <a:solidFill>
                            <a:schemeClr val="accent3">
                              <a:lumMod val="75000"/>
                            </a:schemeClr>
                          </a:solidFill>
                          <a:latin typeface="Franklin Gothic Book" panose="020B0503020102020204" pitchFamily="34" charset="0"/>
                        </a:rPr>
                        <a:t>Угол отклонения маятника</a:t>
                      </a:r>
                      <a:endParaRPr lang="en-US" sz="2400" b="0" dirty="0">
                        <a:solidFill>
                          <a:schemeClr val="accent3">
                            <a:lumMod val="75000"/>
                          </a:schemeClr>
                        </a:solidFill>
                        <a:latin typeface="Franklin Gothic Book" panose="020B05030201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1101825"/>
                  </a:ext>
                </a:extLst>
              </a:tr>
              <a:tr h="1090506">
                <a:tc>
                  <a:txBody>
                    <a:bodyPr/>
                    <a:lstStyle/>
                    <a:p>
                      <a:pPr algn="l"/>
                      <a:r>
                        <a:rPr lang="en-US" sz="4800" b="1" i="0" kern="0" dirty="0">
                          <a:solidFill>
                            <a:srgbClr val="92C5EB"/>
                          </a:solidFill>
                          <a:latin typeface="Arial Black"/>
                          <a:cs typeface="Segoe UI" panose="020B0502040204020203" pitchFamily="34" charset="0"/>
                        </a:rPr>
                        <a:t>l</a:t>
                      </a:r>
                      <a:endParaRPr lang="ru-RU" sz="4800" i="0" dirty="0"/>
                    </a:p>
                  </a:txBody>
                  <a:tcPr anchor="ctr">
                    <a:lnL w="6350" cap="flat" cmpd="sng" algn="ctr">
                      <a:noFill/>
                      <a:prstDash val="solid"/>
                      <a:miter lim="800000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400" dirty="0">
                          <a:solidFill>
                            <a:schemeClr val="accent3">
                              <a:lumMod val="75000"/>
                            </a:schemeClr>
                          </a:solidFill>
                          <a:latin typeface="Franklin Gothic Book" panose="020B0503020102020204" pitchFamily="34" charset="0"/>
                        </a:rPr>
                        <a:t>Длина легкого стержня</a:t>
                      </a:r>
                      <a:endParaRPr lang="en-US" sz="2400" dirty="0">
                        <a:solidFill>
                          <a:schemeClr val="accent3">
                            <a:lumMod val="75000"/>
                          </a:schemeClr>
                        </a:solidFill>
                        <a:latin typeface="Franklin Gothic Book" panose="020B050302010202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miter lim="800000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400" b="1" i="0" kern="0" dirty="0">
                          <a:solidFill>
                            <a:srgbClr val="0072BC"/>
                          </a:solidFill>
                          <a:latin typeface="Arial Black" panose="020B0604020202020204" pitchFamily="34" charset="0"/>
                          <a:cs typeface="Arial Black" panose="020B0604020202020204" pitchFamily="34" charset="0"/>
                        </a:rPr>
                        <a:t>M</a:t>
                      </a:r>
                      <a:endParaRPr lang="ru" sz="4400" b="1" i="0" kern="0" dirty="0">
                        <a:solidFill>
                          <a:srgbClr val="0072BC"/>
                        </a:solidFill>
                        <a:latin typeface="Arial Black" panose="020B0604020202020204" pitchFamily="34" charset="0"/>
                        <a:cs typeface="Arial Black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miter lim="800000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400" dirty="0">
                          <a:solidFill>
                            <a:schemeClr val="accent3">
                              <a:lumMod val="75000"/>
                            </a:schemeClr>
                          </a:solidFill>
                          <a:latin typeface="Franklin Gothic Book" panose="020B0503020102020204" pitchFamily="34" charset="0"/>
                        </a:rPr>
                        <a:t>Масса тележки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miter lim="800000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2472889"/>
                  </a:ext>
                </a:extLst>
              </a:tr>
              <a:tr h="109050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800" b="1" i="0" kern="0" dirty="0">
                          <a:solidFill>
                            <a:srgbClr val="0072BC"/>
                          </a:solidFill>
                          <a:latin typeface="Arial Black"/>
                          <a:cs typeface="Segoe UI" panose="020B0502040204020203" pitchFamily="34" charset="0"/>
                        </a:rPr>
                        <a:t>g</a:t>
                      </a:r>
                      <a:endParaRPr lang="ru" sz="4800" b="1" i="0" kern="0" dirty="0">
                        <a:solidFill>
                          <a:srgbClr val="0072BC"/>
                        </a:solidFill>
                        <a:latin typeface="Arial Black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miter lim="800000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400" dirty="0">
                          <a:solidFill>
                            <a:schemeClr val="accent3">
                              <a:lumMod val="75000"/>
                            </a:schemeClr>
                          </a:solidFill>
                          <a:latin typeface="Franklin Gothic Book" panose="020B0503020102020204" pitchFamily="34" charset="0"/>
                        </a:rPr>
                        <a:t>Ускорение свободного падения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miter lim="800000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800" b="1" i="0" kern="0" dirty="0">
                          <a:solidFill>
                            <a:srgbClr val="92C5EB"/>
                          </a:solidFill>
                          <a:latin typeface="Arial Black" panose="020B0604020202020204" pitchFamily="34" charset="0"/>
                          <a:cs typeface="Arial Black" panose="020B0604020202020204" pitchFamily="34" charset="0"/>
                        </a:rPr>
                        <a:t>F</a:t>
                      </a:r>
                      <a:endParaRPr lang="ru" sz="4800" b="1" i="0" kern="0" dirty="0">
                        <a:solidFill>
                          <a:srgbClr val="92C5EB"/>
                        </a:solidFill>
                        <a:latin typeface="Arial Black" panose="020B0604020202020204" pitchFamily="34" charset="0"/>
                        <a:cs typeface="Arial Black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miter lim="800000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400" dirty="0">
                          <a:solidFill>
                            <a:schemeClr val="accent3">
                              <a:lumMod val="75000"/>
                            </a:schemeClr>
                          </a:solidFill>
                          <a:latin typeface="Franklin Gothic Book" panose="020B0503020102020204" pitchFamily="34" charset="0"/>
                        </a:rPr>
                        <a:t>Сила, движущая тележку</a:t>
                      </a:r>
                      <a:endParaRPr lang="en-US" sz="2400" dirty="0">
                        <a:solidFill>
                          <a:schemeClr val="accent3">
                            <a:lumMod val="75000"/>
                          </a:schemeClr>
                        </a:solidFill>
                        <a:latin typeface="Franklin Gothic Book" panose="020B050302010202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miter lim="800000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7018475"/>
                  </a:ext>
                </a:extLst>
              </a:tr>
              <a:tr h="109050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800" b="1" i="0" kern="0" dirty="0">
                          <a:solidFill>
                            <a:srgbClr val="92C5EB"/>
                          </a:solidFill>
                          <a:latin typeface="Arial Black" panose="020B0604020202020204" pitchFamily="34" charset="0"/>
                          <a:cs typeface="Arial Black" panose="020B0604020202020204" pitchFamily="34" charset="0"/>
                        </a:rPr>
                        <a:t>x</a:t>
                      </a:r>
                      <a:endParaRPr lang="ru" sz="4800" b="1" i="0" kern="0" dirty="0">
                        <a:solidFill>
                          <a:srgbClr val="92C5EB"/>
                        </a:solidFill>
                        <a:latin typeface="Arial Black" panose="020B0604020202020204" pitchFamily="34" charset="0"/>
                        <a:cs typeface="Arial Black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miter lim="800000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400" dirty="0">
                          <a:solidFill>
                            <a:schemeClr val="accent3">
                              <a:lumMod val="75000"/>
                            </a:schemeClr>
                          </a:solidFill>
                          <a:latin typeface="Franklin Gothic Book" panose="020B0503020102020204" pitchFamily="34" charset="0"/>
                        </a:rPr>
                        <a:t>Координата тележки</a:t>
                      </a:r>
                      <a:endParaRPr lang="en-US" sz="2400" dirty="0">
                        <a:solidFill>
                          <a:schemeClr val="accent3">
                            <a:lumMod val="75000"/>
                          </a:schemeClr>
                        </a:solidFill>
                        <a:latin typeface="Franklin Gothic Book" panose="020B050302010202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miter lim="800000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800" b="1" i="0" kern="0" dirty="0">
                          <a:solidFill>
                            <a:srgbClr val="0070C0"/>
                          </a:solidFill>
                          <a:latin typeface="Arial Black" panose="020B0604020202020204" pitchFamily="34" charset="0"/>
                          <a:cs typeface="Arial Black" panose="020B0604020202020204" pitchFamily="34" charset="0"/>
                        </a:rPr>
                        <a:t>J</a:t>
                      </a:r>
                      <a:endParaRPr lang="ru" sz="4800" b="1" i="0" kern="0" dirty="0">
                        <a:solidFill>
                          <a:srgbClr val="0070C0"/>
                        </a:solidFill>
                        <a:latin typeface="Arial Black" panose="020B0604020202020204" pitchFamily="34" charset="0"/>
                        <a:cs typeface="Arial Black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miter lim="800000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400" dirty="0">
                          <a:solidFill>
                            <a:schemeClr val="accent3">
                              <a:lumMod val="75000"/>
                            </a:schemeClr>
                          </a:solidFill>
                          <a:latin typeface="Franklin Gothic Book" panose="020B0503020102020204" pitchFamily="34" charset="0"/>
                        </a:rPr>
                        <a:t>Момент инерции</a:t>
                      </a:r>
                      <a:endParaRPr lang="en-US" sz="2400" dirty="0">
                        <a:solidFill>
                          <a:schemeClr val="accent3">
                            <a:lumMod val="75000"/>
                          </a:schemeClr>
                        </a:solidFill>
                        <a:latin typeface="Franklin Gothic Book" panose="020B050302010202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miter lim="800000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215679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473593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43BA1D4D-2B0C-44B3-A721-A538AD27B5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solidFill>
                  <a:srgbClr val="0072BC"/>
                </a:solidFill>
                <a:latin typeface="Arial Black" panose="020B0A04020102020204" pitchFamily="34" charset="0"/>
              </a:rPr>
              <a:t>УРАВНЕНИЕ ДВИЖЕНИЯ</a:t>
            </a:r>
            <a:endParaRPr lang="ru-R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Объект 5">
                <a:extLst>
                  <a:ext uri="{FF2B5EF4-FFF2-40B4-BE49-F238E27FC236}">
                    <a16:creationId xmlns:a16="http://schemas.microsoft.com/office/drawing/2014/main" id="{C327BC7D-6835-49EA-B032-90F91D563D3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lnSpc>
                    <a:spcPct val="110000"/>
                  </a:lnSpc>
                  <a:buNone/>
                </a:pPr>
                <a:r>
                  <a:rPr lang="ru-RU" dirty="0">
                    <a:solidFill>
                      <a:srgbClr val="525252"/>
                    </a:solidFill>
                    <a:latin typeface="Franklin Gothic Book" panose="020B0503020102020204" pitchFamily="34" charset="0"/>
                  </a:rPr>
                  <a:t>Из уравнения Лагранжа</a:t>
                </a:r>
              </a:p>
              <a:p>
                <a:pPr marL="0" indent="0">
                  <a:lnSpc>
                    <a:spcPct val="11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i="1">
                          <a:solidFill>
                            <a:srgbClr val="0072BC"/>
                          </a:solidFill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sz="3200" i="1">
                          <a:solidFill>
                            <a:srgbClr val="0072BC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sSub>
                        <m:sSubPr>
                          <m:ctrlPr>
                            <a:rPr lang="en-US" sz="3200" i="1">
                              <a:solidFill>
                                <a:srgbClr val="0072BC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>
                              <a:solidFill>
                                <a:srgbClr val="0072BC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sz="3200" i="1">
                              <a:solidFill>
                                <a:srgbClr val="0072BC"/>
                              </a:solidFill>
                              <a:latin typeface="Cambria Math" panose="02040503050406030204" pitchFamily="18" charset="0"/>
                            </a:rPr>
                            <m:t>𝑘𝑖𝑛</m:t>
                          </m:r>
                        </m:sub>
                      </m:sSub>
                      <m:r>
                        <a:rPr lang="en-US" sz="3200" i="1">
                          <a:solidFill>
                            <a:srgbClr val="0072BC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3200" i="1">
                              <a:solidFill>
                                <a:srgbClr val="0072BC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>
                              <a:solidFill>
                                <a:srgbClr val="0072BC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sz="3200" i="1">
                              <a:solidFill>
                                <a:srgbClr val="0072BC"/>
                              </a:solidFill>
                              <a:latin typeface="Cambria Math" panose="02040503050406030204" pitchFamily="18" charset="0"/>
                            </a:rPr>
                            <m:t>𝑝𝑜𝑡</m:t>
                          </m:r>
                        </m:sub>
                      </m:sSub>
                    </m:oMath>
                    <m:oMath xmlns:m="http://schemas.openxmlformats.org/officeDocument/2006/math">
                      <m:f>
                        <m:fPr>
                          <m:ctrlPr>
                            <a:rPr lang="ru-RU" sz="3200" i="1">
                              <a:solidFill>
                                <a:srgbClr val="0072BC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3200" i="1">
                              <a:solidFill>
                                <a:srgbClr val="0072BC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n-US" sz="3200" i="1">
                              <a:solidFill>
                                <a:srgbClr val="0072BC"/>
                              </a:solidFill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f>
                        <m:fPr>
                          <m:ctrlPr>
                            <a:rPr lang="ru-RU" sz="3200" i="1">
                              <a:solidFill>
                                <a:srgbClr val="0072BC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u-RU" sz="3200" i="1">
                              <a:solidFill>
                                <a:srgbClr val="0072BC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3200" i="1">
                              <a:solidFill>
                                <a:srgbClr val="0072BC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𝐿</m:t>
                          </m:r>
                        </m:num>
                        <m:den>
                          <m:r>
                            <a:rPr lang="ru-RU" sz="3200" i="1">
                              <a:solidFill>
                                <a:srgbClr val="0072BC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acc>
                            <m:accPr>
                              <m:chr m:val="̇"/>
                              <m:ctrlPr>
                                <a:rPr lang="en-US" sz="3200" i="1">
                                  <a:solidFill>
                                    <a:srgbClr val="0072BC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3200" i="1">
                                  <a:solidFill>
                                    <a:srgbClr val="0072BC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</m:acc>
                        </m:den>
                      </m:f>
                      <m:r>
                        <a:rPr lang="en-US" sz="3200" i="1">
                          <a:solidFill>
                            <a:srgbClr val="0072BC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3200" i="1">
                              <a:solidFill>
                                <a:srgbClr val="0072BC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3200" i="1">
                              <a:solidFill>
                                <a:srgbClr val="0072BC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3200" i="1">
                              <a:solidFill>
                                <a:srgbClr val="0072BC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𝐿</m:t>
                          </m:r>
                        </m:num>
                        <m:den>
                          <m:r>
                            <a:rPr lang="en-US" sz="3200" i="1">
                              <a:solidFill>
                                <a:srgbClr val="0072BC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𝜕𝜃</m:t>
                          </m:r>
                        </m:den>
                      </m:f>
                      <m:r>
                        <a:rPr lang="ru-RU" sz="3200" i="1">
                          <a:solidFill>
                            <a:srgbClr val="0072BC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ru-RU" sz="3200" b="0" i="1" smtClean="0">
                          <a:solidFill>
                            <a:srgbClr val="0072BC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</m:t>
                      </m:r>
                      <m:f>
                        <m:fPr>
                          <m:ctrlPr>
                            <a:rPr lang="ru-RU" sz="3200" i="1">
                              <a:solidFill>
                                <a:srgbClr val="0072BC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3200" i="1">
                              <a:solidFill>
                                <a:srgbClr val="0072BC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n-US" sz="3200" i="1">
                              <a:solidFill>
                                <a:srgbClr val="0072BC"/>
                              </a:solidFill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f>
                        <m:fPr>
                          <m:ctrlPr>
                            <a:rPr lang="ru-RU" sz="3200" i="1">
                              <a:solidFill>
                                <a:srgbClr val="0072BC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u-RU" sz="3200" i="1">
                              <a:solidFill>
                                <a:srgbClr val="0072BC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3200" i="1">
                              <a:solidFill>
                                <a:srgbClr val="0072BC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𝐿</m:t>
                          </m:r>
                        </m:num>
                        <m:den>
                          <m:r>
                            <a:rPr lang="ru-RU" sz="3200" i="1">
                              <a:solidFill>
                                <a:srgbClr val="0072BC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acc>
                            <m:accPr>
                              <m:chr m:val="̇"/>
                              <m:ctrlPr>
                                <a:rPr lang="en-US" sz="3200" i="1">
                                  <a:solidFill>
                                    <a:srgbClr val="0072BC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3200" i="1">
                                  <a:solidFill>
                                    <a:srgbClr val="0072BC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den>
                      </m:f>
                      <m:r>
                        <a:rPr lang="ru-RU" sz="3200" i="1">
                          <a:solidFill>
                            <a:srgbClr val="0072BC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3200" i="1">
                              <a:solidFill>
                                <a:srgbClr val="0072BC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3200" i="1">
                              <a:solidFill>
                                <a:srgbClr val="0072BC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3200" i="1">
                              <a:solidFill>
                                <a:srgbClr val="0072BC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𝐿</m:t>
                          </m:r>
                        </m:num>
                        <m:den>
                          <m:r>
                            <a:rPr lang="en-US" sz="3200" i="1">
                              <a:solidFill>
                                <a:srgbClr val="0072BC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3200" i="1">
                              <a:solidFill>
                                <a:srgbClr val="0072BC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lang="ru-RU" sz="3200" i="1">
                          <a:solidFill>
                            <a:srgbClr val="0072BC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3200" i="1">
                          <a:solidFill>
                            <a:srgbClr val="0072BC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𝐹</m:t>
                      </m:r>
                    </m:oMath>
                  </m:oMathPara>
                </a14:m>
                <a:endParaRPr lang="ru-RU" sz="3200" i="1" dirty="0">
                  <a:solidFill>
                    <a:srgbClr val="525252"/>
                  </a:solidFill>
                  <a:latin typeface="Franklin Gothic Book" panose="020B0503020102020204" pitchFamily="34" charset="0"/>
                </a:endParaRPr>
              </a:p>
              <a:p>
                <a:pPr marL="0" indent="0">
                  <a:lnSpc>
                    <a:spcPct val="110000"/>
                  </a:lnSpc>
                  <a:buNone/>
                </a:pPr>
                <a:r>
                  <a:rPr lang="ru-RU" dirty="0">
                    <a:solidFill>
                      <a:srgbClr val="525252"/>
                    </a:solidFill>
                    <a:latin typeface="Franklin Gothic Book" panose="020B0503020102020204" pitchFamily="34" charset="0"/>
                  </a:rPr>
                  <a:t>Уравнения движения маятника</a:t>
                </a:r>
              </a:p>
              <a:p>
                <a:pPr marL="0" indent="0">
                  <a:lnSpc>
                    <a:spcPct val="11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solidFill>
                            <a:srgbClr val="0072BC"/>
                          </a:solidFill>
                          <a:latin typeface="Cambria Math" panose="02040503050406030204" pitchFamily="18" charset="0"/>
                        </a:rPr>
                        <m:t>𝐽</m:t>
                      </m:r>
                      <m:acc>
                        <m:accPr>
                          <m:chr m:val="̈"/>
                          <m:ctrlPr>
                            <a:rPr lang="ru-RU" sz="3200" i="1">
                              <a:solidFill>
                                <a:srgbClr val="0072BC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ru-RU" sz="3200" i="1">
                              <a:solidFill>
                                <a:srgbClr val="0072BC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</m:acc>
                      <m:r>
                        <a:rPr lang="en-US" sz="3200" i="1">
                          <a:solidFill>
                            <a:srgbClr val="0072BC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ru-RU" sz="3200" b="0" i="1" smtClean="0">
                          <a:solidFill>
                            <a:srgbClr val="0072BC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3200" i="1">
                          <a:solidFill>
                            <a:srgbClr val="0072BC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acc>
                        <m:accPr>
                          <m:chr m:val="̇"/>
                          <m:ctrlPr>
                            <a:rPr lang="en-US" sz="3200" i="1">
                              <a:solidFill>
                                <a:srgbClr val="0072BC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3200" i="1">
                              <a:solidFill>
                                <a:srgbClr val="0072BC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</m:acc>
                      <m:r>
                        <a:rPr lang="en-US" sz="3200" b="0" i="1" smtClean="0">
                          <a:solidFill>
                            <a:srgbClr val="0072BC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sz="3200" i="1">
                          <a:solidFill>
                            <a:srgbClr val="0072BC"/>
                          </a:solidFill>
                          <a:latin typeface="Cambria Math" panose="02040503050406030204" pitchFamily="18" charset="0"/>
                        </a:rPr>
                        <m:t>𝑚𝑙</m:t>
                      </m:r>
                      <m:r>
                        <a:rPr lang="en-US" sz="3200" b="0" i="1" smtClean="0">
                          <a:solidFill>
                            <a:srgbClr val="0072BC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  <m:func>
                        <m:funcPr>
                          <m:ctrlPr>
                            <a:rPr lang="en-US" sz="3200" i="1">
                              <a:solidFill>
                                <a:srgbClr val="0072BC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3200">
                              <a:solidFill>
                                <a:srgbClr val="0072BC"/>
                              </a:solidFill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en-US" sz="3200" i="1">
                              <a:solidFill>
                                <a:srgbClr val="0072BC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  <m:r>
                            <a:rPr lang="en-US" sz="3200" b="0" i="1" smtClean="0">
                              <a:solidFill>
                                <a:srgbClr val="0072BC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3200" b="0" i="1" smtClean="0">
                              <a:solidFill>
                                <a:srgbClr val="0072BC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𝑚𝑙</m:t>
                          </m:r>
                          <m:acc>
                            <m:accPr>
                              <m:chr m:val="̈"/>
                              <m:ctrlPr>
                                <a:rPr lang="en-US" sz="3200" b="0" i="1" smtClean="0">
                                  <a:solidFill>
                                    <a:srgbClr val="0072BC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3200" b="0" i="1" smtClean="0">
                                  <a:solidFill>
                                    <a:srgbClr val="0072BC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  <m:func>
                            <m:funcPr>
                              <m:ctrlPr>
                                <a:rPr lang="en-US" sz="3200" i="1" smtClean="0">
                                  <a:solidFill>
                                    <a:srgbClr val="0072BC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3200" i="0" smtClean="0">
                                  <a:solidFill>
                                    <a:srgbClr val="0072BC"/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r>
                                <a:rPr lang="en-US" sz="3200" i="1">
                                  <a:solidFill>
                                    <a:srgbClr val="0072BC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</m:func>
                        </m:e>
                      </m:func>
                    </m:oMath>
                    <m:oMath xmlns:m="http://schemas.openxmlformats.org/officeDocument/2006/math">
                      <m:d>
                        <m:dPr>
                          <m:ctrlPr>
                            <a:rPr lang="en-US" sz="3200" b="0" i="1" smtClean="0">
                              <a:solidFill>
                                <a:srgbClr val="0072BC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b="0" i="1" smtClean="0">
                              <a:solidFill>
                                <a:srgbClr val="0072BC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𝑀</m:t>
                          </m:r>
                          <m:r>
                            <a:rPr lang="en-US" sz="3200" b="0" i="1" smtClean="0">
                              <a:solidFill>
                                <a:srgbClr val="0072BC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3200" b="0" i="1" smtClean="0">
                              <a:solidFill>
                                <a:srgbClr val="0072BC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e>
                      </m:d>
                      <m:acc>
                        <m:accPr>
                          <m:chr m:val="̈"/>
                          <m:ctrlPr>
                            <a:rPr lang="en-US" sz="3200" i="1">
                              <a:solidFill>
                                <a:srgbClr val="0072BC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3200" i="1">
                              <a:solidFill>
                                <a:srgbClr val="0072BC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r>
                        <a:rPr lang="en-US" sz="3200" b="0" i="1" smtClean="0">
                          <a:solidFill>
                            <a:srgbClr val="0072BC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sz="3200" b="0" i="1" smtClean="0">
                          <a:solidFill>
                            <a:srgbClr val="0072BC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𝑚𝑙</m:t>
                      </m:r>
                      <m:acc>
                        <m:accPr>
                          <m:chr m:val="̈"/>
                          <m:ctrlPr>
                            <a:rPr lang="ru-RU" sz="3200" i="1">
                              <a:solidFill>
                                <a:srgbClr val="0072BC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ru-RU" sz="3200" i="1">
                              <a:solidFill>
                                <a:srgbClr val="0072BC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</m:acc>
                      <m:func>
                        <m:funcPr>
                          <m:ctrlPr>
                            <a:rPr lang="en-US" sz="3200" i="1">
                              <a:solidFill>
                                <a:srgbClr val="0072BC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3200">
                              <a:solidFill>
                                <a:srgbClr val="0072BC"/>
                              </a:solidFill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en-US" sz="3200" i="1">
                              <a:solidFill>
                                <a:srgbClr val="0072BC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</m:func>
                      <m:r>
                        <a:rPr lang="en-US" sz="3200" b="0" i="1" smtClean="0">
                          <a:solidFill>
                            <a:srgbClr val="0072BC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sz="3200" b="0" i="1" smtClean="0">
                          <a:solidFill>
                            <a:srgbClr val="0072BC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𝑚𝑙</m:t>
                      </m:r>
                      <m:sSup>
                        <m:sSupPr>
                          <m:ctrlPr>
                            <a:rPr lang="en-US" sz="3200" b="0" i="1" smtClean="0">
                              <a:solidFill>
                                <a:srgbClr val="0072BC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̇"/>
                              <m:ctrlPr>
                                <a:rPr lang="en-US" sz="3200" i="1">
                                  <a:solidFill>
                                    <a:srgbClr val="0072BC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3200" i="1">
                                  <a:solidFill>
                                    <a:srgbClr val="0072BC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</m:acc>
                        </m:e>
                        <m:sup>
                          <m:r>
                            <a:rPr lang="en-US" sz="3200" b="0" i="1" smtClean="0">
                              <a:solidFill>
                                <a:srgbClr val="0072BC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func>
                        <m:funcPr>
                          <m:ctrlPr>
                            <a:rPr lang="en-US" sz="3200" b="0" i="1" smtClean="0">
                              <a:solidFill>
                                <a:srgbClr val="0072BC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3200" b="0" i="0" smtClean="0">
                              <a:solidFill>
                                <a:srgbClr val="0072BC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en-US" sz="3200" b="0" i="1" smtClean="0">
                              <a:solidFill>
                                <a:srgbClr val="0072BC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  <m:r>
                            <a:rPr lang="ru-RU" sz="3200" b="0" i="1" smtClean="0">
                              <a:solidFill>
                                <a:srgbClr val="0072BC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3200" b="0" i="1" smtClean="0">
                              <a:solidFill>
                                <a:srgbClr val="0072BC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𝐹</m:t>
                          </m:r>
                        </m:e>
                      </m:func>
                    </m:oMath>
                  </m:oMathPara>
                </a14:m>
                <a:endParaRPr lang="en-US" dirty="0">
                  <a:solidFill>
                    <a:srgbClr val="0072BC"/>
                  </a:solidFill>
                </a:endParaRPr>
              </a:p>
              <a:p>
                <a:pPr marL="0" indent="0">
                  <a:lnSpc>
                    <a:spcPct val="110000"/>
                  </a:lnSpc>
                  <a:buNone/>
                </a:pPr>
                <a:endParaRPr lang="en-US" dirty="0">
                  <a:solidFill>
                    <a:srgbClr val="0072BC"/>
                  </a:solidFill>
                </a:endParaRPr>
              </a:p>
            </p:txBody>
          </p:sp>
        </mc:Choice>
        <mc:Fallback>
          <p:sp>
            <p:nvSpPr>
              <p:cNvPr id="6" name="Объект 5">
                <a:extLst>
                  <a:ext uri="{FF2B5EF4-FFF2-40B4-BE49-F238E27FC236}">
                    <a16:creationId xmlns:a16="http://schemas.microsoft.com/office/drawing/2014/main" id="{C327BC7D-6835-49EA-B032-90F91D563D3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217" t="-112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10">
            <a:extLst>
              <a:ext uri="{FF2B5EF4-FFF2-40B4-BE49-F238E27FC236}">
                <a16:creationId xmlns:a16="http://schemas.microsoft.com/office/drawing/2014/main" id="{AF9850EC-391D-4CB6-AC7E-692B33F630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49985" y="1690688"/>
            <a:ext cx="2469155" cy="25012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219767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43BA1D4D-2B0C-44B3-A721-A538AD27B5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PID</a:t>
            </a:r>
            <a:r>
              <a:rPr lang="ru-RU" dirty="0"/>
              <a:t>-РЕГУЛЯТОР</a:t>
            </a:r>
          </a:p>
        </p:txBody>
      </p:sp>
      <p:graphicFrame>
        <p:nvGraphicFramePr>
          <p:cNvPr id="2" name="Таблица 1">
            <a:extLst>
              <a:ext uri="{FF2B5EF4-FFF2-40B4-BE49-F238E27FC236}">
                <a16:creationId xmlns:a16="http://schemas.microsoft.com/office/drawing/2014/main" id="{540AB2AE-AA57-CE4D-BFE1-E5E113953F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4618625"/>
              </p:ext>
            </p:extLst>
          </p:nvPr>
        </p:nvGraphicFramePr>
        <p:xfrm>
          <a:off x="838200" y="2555013"/>
          <a:ext cx="7728284" cy="3271518"/>
        </p:xfrm>
        <a:graphic>
          <a:graphicData uri="http://schemas.openxmlformats.org/drawingml/2006/table">
            <a:tbl>
              <a:tblPr firstRow="1" bandRow="1">
                <a:noFill/>
                <a:tableStyleId>{284E427A-3D55-4303-BF80-6455036E1DE7}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3245134588"/>
                    </a:ext>
                  </a:extLst>
                </a:gridCol>
                <a:gridCol w="3641253">
                  <a:extLst>
                    <a:ext uri="{9D8B030D-6E8A-4147-A177-3AD203B41FA5}">
                      <a16:colId xmlns:a16="http://schemas.microsoft.com/office/drawing/2014/main" val="2022675201"/>
                    </a:ext>
                  </a:extLst>
                </a:gridCol>
                <a:gridCol w="3325031">
                  <a:extLst>
                    <a:ext uri="{9D8B030D-6E8A-4147-A177-3AD203B41FA5}">
                      <a16:colId xmlns:a16="http://schemas.microsoft.com/office/drawing/2014/main" val="3737581934"/>
                    </a:ext>
                  </a:extLst>
                </a:gridCol>
              </a:tblGrid>
              <a:tr h="109050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5400" b="1" i="0" kern="0" dirty="0">
                          <a:solidFill>
                            <a:srgbClr val="0072BC"/>
                          </a:solidFill>
                          <a:latin typeface="Arial Black"/>
                          <a:cs typeface="Segoe UI" panose="020B0502040204020203" pitchFamily="34" charset="0"/>
                        </a:rPr>
                        <a:t>P</a:t>
                      </a:r>
                      <a:endParaRPr lang="ru" sz="5400" b="1" i="0" kern="0" dirty="0">
                        <a:solidFill>
                          <a:srgbClr val="0072BC"/>
                        </a:solidFill>
                        <a:latin typeface="Arial Black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miter lim="800000"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800" b="0" dirty="0">
                          <a:solidFill>
                            <a:schemeClr val="accent3">
                              <a:lumMod val="75000"/>
                            </a:schemeClr>
                          </a:solidFill>
                          <a:latin typeface="Franklin Gothic Book" panose="020B0503020102020204" pitchFamily="34" charset="0"/>
                        </a:rPr>
                        <a:t>Пропорциональный</a:t>
                      </a:r>
                      <a:endParaRPr lang="en-US" sz="2800" b="0" dirty="0">
                        <a:solidFill>
                          <a:schemeClr val="accent3">
                            <a:lumMod val="75000"/>
                          </a:schemeClr>
                        </a:solidFill>
                        <a:latin typeface="Franklin Gothic Book" panose="020B05030201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800" b="0" dirty="0">
                          <a:solidFill>
                            <a:schemeClr val="accent3">
                              <a:lumMod val="75000"/>
                            </a:schemeClr>
                          </a:solidFill>
                          <a:latin typeface="Franklin Gothic Book" panose="020B0503020102020204" pitchFamily="34" charset="0"/>
                        </a:rPr>
                        <a:t>Настоящее</a:t>
                      </a:r>
                      <a:endParaRPr lang="en-US" sz="2800" b="0" dirty="0">
                        <a:solidFill>
                          <a:schemeClr val="accent3">
                            <a:lumMod val="75000"/>
                          </a:schemeClr>
                        </a:solidFill>
                        <a:latin typeface="Franklin Gothic Book" panose="020B05030201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8860976"/>
                  </a:ext>
                </a:extLst>
              </a:tr>
              <a:tr h="1090506">
                <a:tc>
                  <a:txBody>
                    <a:bodyPr/>
                    <a:lstStyle/>
                    <a:p>
                      <a:pPr algn="l"/>
                      <a:r>
                        <a:rPr lang="en-US" sz="5400" b="1" i="0" kern="0" dirty="0">
                          <a:solidFill>
                            <a:srgbClr val="92C5EB"/>
                          </a:solidFill>
                          <a:latin typeface="Arial Black"/>
                          <a:cs typeface="Segoe UI" panose="020B0502040204020203" pitchFamily="34" charset="0"/>
                        </a:rPr>
                        <a:t>I</a:t>
                      </a:r>
                      <a:endParaRPr lang="ru-RU" sz="5400" i="0" dirty="0"/>
                    </a:p>
                  </a:txBody>
                  <a:tcPr anchor="ctr">
                    <a:lnL w="6350" cap="flat" cmpd="sng" algn="ctr">
                      <a:noFill/>
                      <a:prstDash val="solid"/>
                      <a:miter lim="800000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800" dirty="0">
                          <a:solidFill>
                            <a:schemeClr val="accent3">
                              <a:lumMod val="75000"/>
                            </a:schemeClr>
                          </a:solidFill>
                          <a:latin typeface="Franklin Gothic Book" panose="020B0503020102020204" pitchFamily="34" charset="0"/>
                        </a:rPr>
                        <a:t>Интегральный</a:t>
                      </a:r>
                      <a:endParaRPr lang="en-US" sz="2800" dirty="0">
                        <a:solidFill>
                          <a:schemeClr val="accent3">
                            <a:lumMod val="75000"/>
                          </a:schemeClr>
                        </a:solidFill>
                        <a:latin typeface="Franklin Gothic Book" panose="020B050302010202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miter lim="800000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800" dirty="0">
                          <a:solidFill>
                            <a:schemeClr val="accent3">
                              <a:lumMod val="75000"/>
                            </a:schemeClr>
                          </a:solidFill>
                          <a:latin typeface="Franklin Gothic Book" panose="020B0503020102020204" pitchFamily="34" charset="0"/>
                        </a:rPr>
                        <a:t>Прошедшее</a:t>
                      </a:r>
                      <a:endParaRPr lang="en-US" sz="2800" dirty="0">
                        <a:solidFill>
                          <a:schemeClr val="accent3">
                            <a:lumMod val="75000"/>
                          </a:schemeClr>
                        </a:solidFill>
                        <a:latin typeface="Franklin Gothic Book" panose="020B050302010202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miter lim="800000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2935958"/>
                  </a:ext>
                </a:extLst>
              </a:tr>
              <a:tr h="109050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5400" b="1" i="0" kern="0" dirty="0">
                          <a:solidFill>
                            <a:srgbClr val="0072BC"/>
                          </a:solidFill>
                          <a:latin typeface="Arial Black"/>
                          <a:cs typeface="Segoe UI" panose="020B0502040204020203" pitchFamily="34" charset="0"/>
                        </a:rPr>
                        <a:t>D</a:t>
                      </a:r>
                      <a:endParaRPr lang="ru" sz="5400" b="1" i="0" kern="0" dirty="0">
                        <a:solidFill>
                          <a:srgbClr val="0072BC"/>
                        </a:solidFill>
                        <a:latin typeface="Arial Black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miter lim="800000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800" dirty="0">
                          <a:solidFill>
                            <a:schemeClr val="accent3">
                              <a:lumMod val="75000"/>
                            </a:schemeClr>
                          </a:solidFill>
                          <a:latin typeface="Franklin Gothic Book" panose="020B0503020102020204" pitchFamily="34" charset="0"/>
                        </a:rPr>
                        <a:t>Дифференциальный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miter lim="800000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800" dirty="0">
                          <a:solidFill>
                            <a:schemeClr val="accent3">
                              <a:lumMod val="75000"/>
                            </a:schemeClr>
                          </a:solidFill>
                          <a:latin typeface="Franklin Gothic Book" panose="020B0503020102020204" pitchFamily="34" charset="0"/>
                        </a:rPr>
                        <a:t>Будущее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miter lim="800000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5842737"/>
                  </a:ext>
                </a:extLst>
              </a:tr>
            </a:tbl>
          </a:graphicData>
        </a:graphic>
      </p:graphicFrame>
      <p:pic>
        <p:nvPicPr>
          <p:cNvPr id="1026" name="Picture 2">
            <a:extLst>
              <a:ext uri="{FF2B5EF4-FFF2-40B4-BE49-F238E27FC236}">
                <a16:creationId xmlns:a16="http://schemas.microsoft.com/office/drawing/2014/main" id="{027B0632-2D79-484D-8196-27FC7CC62D5E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85717" y="2512366"/>
            <a:ext cx="4289259" cy="33568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918394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Объект 3">
                <a:extLst>
                  <a:ext uri="{FF2B5EF4-FFF2-40B4-BE49-F238E27FC236}">
                    <a16:creationId xmlns:a16="http://schemas.microsoft.com/office/drawing/2014/main" id="{E76EE7C7-9F58-0745-BE9E-23CFDE6DFC1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ru-RU" dirty="0"/>
                  <a:t>Поддерживает заданного значения </a:t>
                </a:r>
                <a14:m>
                  <m:oMath xmlns:m="http://schemas.openxmlformats.org/officeDocument/2006/math">
                    <m:r>
                      <a:rPr lang="en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" dirty="0"/>
                  <a:t> </a:t>
                </a:r>
                <a:r>
                  <a:rPr lang="ru-RU" dirty="0"/>
                  <a:t>некоторой величины </a:t>
                </a:r>
                <a14:m>
                  <m:oMath xmlns:m="http://schemas.openxmlformats.org/officeDocument/2006/math">
                    <m:r>
                      <a:rPr lang="en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" dirty="0"/>
                  <a:t> </a:t>
                </a:r>
                <a:r>
                  <a:rPr lang="ru-RU" dirty="0"/>
                  <a:t>с помощью изменения другой величины </a:t>
                </a:r>
                <a14:m>
                  <m:oMath xmlns:m="http://schemas.openxmlformats.org/officeDocument/2006/math">
                    <m:r>
                      <a:rPr lang="en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" dirty="0"/>
                  <a:t>. </a:t>
                </a:r>
                <a:r>
                  <a:rPr lang="ru-RU" dirty="0"/>
                  <a:t>Значение </a:t>
                </a:r>
                <a14:m>
                  <m:oMath xmlns:m="http://schemas.openxmlformats.org/officeDocument/2006/math">
                    <m:r>
                      <a:rPr lang="en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" dirty="0"/>
                  <a:t> </a:t>
                </a:r>
                <a:r>
                  <a:rPr lang="ru-RU" dirty="0"/>
                  <a:t>называется </a:t>
                </a:r>
                <a:r>
                  <a:rPr lang="ru-RU" i="1" dirty="0"/>
                  <a:t>заданным значением</a:t>
                </a:r>
                <a:r>
                  <a:rPr lang="ru-RU" dirty="0"/>
                  <a:t>, а разность </a:t>
                </a:r>
                <a14:m>
                  <m:oMath xmlns:m="http://schemas.openxmlformats.org/officeDocument/2006/math">
                    <m:r>
                      <a:rPr lang="en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a:rPr lang="en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= (</m:t>
                    </m:r>
                    <m:r>
                      <a:rPr lang="en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− </m:t>
                    </m:r>
                    <m:r>
                      <a:rPr lang="en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" dirty="0">
                    <a:solidFill>
                      <a:schemeClr val="tx1"/>
                    </a:solidFill>
                  </a:rPr>
                  <a:t> </a:t>
                </a:r>
                <a:r>
                  <a:rPr lang="en" dirty="0"/>
                  <a:t>— </a:t>
                </a:r>
                <a:r>
                  <a:rPr lang="ru-RU" i="1" dirty="0"/>
                  <a:t>невязкой</a:t>
                </a:r>
                <a:r>
                  <a:rPr lang="en-US" i="1" dirty="0"/>
                  <a:t>.</a:t>
                </a:r>
              </a:p>
              <a:p>
                <a:pPr marL="0" indent="0">
                  <a:buNone/>
                </a:pPr>
                <a:r>
                  <a:rPr lang="ru-RU" dirty="0"/>
                  <a:t>Выходной сигнал регулятора </a:t>
                </a:r>
                <a:r>
                  <a:rPr lang="en" i="1" dirty="0"/>
                  <a:t>u:</a:t>
                </a:r>
                <a:br>
                  <a:rPr lang="en-US" i="1" dirty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  <m:d>
                        <m:dPr>
                          <m:ctrlPr>
                            <a:rPr lang="en-US" sz="3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36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36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36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36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US" sz="36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36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en-US" sz="36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3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sz="3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a:rPr lang="en-US" sz="36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𝑒</m:t>
                      </m:r>
                      <m:d>
                        <m:dPr>
                          <m:ctrlPr>
                            <a:rPr lang="en-US" sz="3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36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3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sz="3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nary>
                        <m:naryPr>
                          <m:ctrlPr>
                            <a:rPr lang="en-US" sz="3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3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  <m:sup>
                          <m:r>
                            <a:rPr lang="en-US" sz="3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p>
                        <m:e>
                          <m:r>
                            <a:rPr lang="en-US" sz="3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  <m:r>
                            <a:rPr lang="en-US" sz="3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3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  <m:r>
                            <a:rPr lang="en-US" sz="3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  <m:r>
                            <a:rPr lang="en-US" sz="3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sz="3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</m:nary>
                      <m:r>
                        <a:rPr lang="en-US" sz="3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3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sz="3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sub>
                      </m:sSub>
                      <m:f>
                        <m:fPr>
                          <m:ctrlPr>
                            <a:rPr lang="en-US" sz="3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3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𝑑𝑒</m:t>
                          </m:r>
                        </m:num>
                        <m:den>
                          <m:r>
                            <a:rPr lang="en-US" sz="3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</m:oMath>
                  </m:oMathPara>
                </a14:m>
                <a:endParaRPr lang="en-US" i="1" dirty="0"/>
              </a:p>
              <a:p>
                <a:pPr marL="0" indent="0">
                  <a:buNone/>
                </a:pPr>
                <a:endParaRPr lang="ru-RU" dirty="0"/>
              </a:p>
              <a:p>
                <a:pPr marL="0" indent="0">
                  <a:buNone/>
                </a:pPr>
                <a:endParaRPr lang="ru-RU" dirty="0"/>
              </a:p>
            </p:txBody>
          </p:sp>
        </mc:Choice>
        <mc:Fallback xmlns="">
          <p:sp>
            <p:nvSpPr>
              <p:cNvPr id="4" name="Объект 3">
                <a:extLst>
                  <a:ext uri="{FF2B5EF4-FFF2-40B4-BE49-F238E27FC236}">
                    <a16:creationId xmlns:a16="http://schemas.microsoft.com/office/drawing/2014/main" id="{E76EE7C7-9F58-0745-BE9E-23CFDE6DFC1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206" t="-6395" b="-5087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43BA1D4D-2B0C-44B3-A721-A538AD27B5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PID</a:t>
            </a:r>
            <a:r>
              <a:rPr lang="ru-RU" dirty="0"/>
              <a:t>-РЕГУЛЯТОР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" name="Таблица 1">
                <a:extLst>
                  <a:ext uri="{FF2B5EF4-FFF2-40B4-BE49-F238E27FC236}">
                    <a16:creationId xmlns:a16="http://schemas.microsoft.com/office/drawing/2014/main" id="{540AB2AE-AA57-CE4D-BFE1-E5E113953F0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68676379"/>
                  </p:ext>
                </p:extLst>
              </p:nvPr>
            </p:nvGraphicFramePr>
            <p:xfrm>
              <a:off x="838200" y="5149815"/>
              <a:ext cx="10515600" cy="1325563"/>
            </p:xfrm>
            <a:graphic>
              <a:graphicData uri="http://schemas.openxmlformats.org/drawingml/2006/table">
                <a:tbl>
                  <a:tblPr firstRow="1" bandRow="1">
                    <a:noFill/>
                    <a:tableStyleId>{284E427A-3D55-4303-BF80-6455036E1DE7}</a:tableStyleId>
                  </a:tblPr>
                  <a:tblGrid>
                    <a:gridCol w="3163591">
                      <a:extLst>
                        <a:ext uri="{9D8B030D-6E8A-4147-A177-3AD203B41FA5}">
                          <a16:colId xmlns:a16="http://schemas.microsoft.com/office/drawing/2014/main" val="3245134588"/>
                        </a:ext>
                      </a:extLst>
                    </a:gridCol>
                    <a:gridCol w="7352009">
                      <a:extLst>
                        <a:ext uri="{9D8B030D-6E8A-4147-A177-3AD203B41FA5}">
                          <a16:colId xmlns:a16="http://schemas.microsoft.com/office/drawing/2014/main" val="2022675201"/>
                        </a:ext>
                      </a:extLst>
                    </a:gridCol>
                  </a:tblGrid>
                  <a:tr h="1325563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4800" b="1" i="1" kern="0" dirty="0" smtClean="0">
                                      <a:solidFill>
                                        <a:srgbClr val="0072BC"/>
                                      </a:solidFill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4800" b="1" i="1" kern="0" dirty="0" smtClean="0">
                                      <a:solidFill>
                                        <a:srgbClr val="0072BC"/>
                                      </a:solidFill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𝑲</m:t>
                                  </m:r>
                                </m:e>
                                <m:sub>
                                  <m:r>
                                    <a:rPr lang="en-US" sz="4800" b="1" i="1" kern="0" dirty="0" smtClean="0">
                                      <a:solidFill>
                                        <a:srgbClr val="0072BC"/>
                                      </a:solidFill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𝒑</m:t>
                                  </m:r>
                                </m:sub>
                              </m:sSub>
                              <m:r>
                                <a:rPr lang="ru-RU" sz="4800" b="1" i="1" kern="0" dirty="0" smtClean="0">
                                  <a:solidFill>
                                    <a:srgbClr val="0072BC"/>
                                  </a:solidFill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,</m:t>
                              </m:r>
                            </m:oMath>
                          </a14:m>
                          <a:r>
                            <a:rPr lang="en-US" sz="4800" b="1" kern="0" dirty="0">
                              <a:solidFill>
                                <a:srgbClr val="92C5EB"/>
                              </a:solidFill>
                              <a:cs typeface="Segoe UI" panose="020B0502040204020203" pitchFamily="34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4800" b="1" i="1" kern="0" dirty="0" smtClean="0">
                                      <a:solidFill>
                                        <a:srgbClr val="92C5EB"/>
                                      </a:solidFill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4800" b="1" i="1" kern="0" dirty="0" smtClean="0">
                                      <a:solidFill>
                                        <a:srgbClr val="92C5EB"/>
                                      </a:solidFill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𝑲</m:t>
                                  </m:r>
                                </m:e>
                                <m:sub>
                                  <m:r>
                                    <a:rPr lang="en-US" sz="4800" b="1" i="1" kern="0" dirty="0" smtClean="0">
                                      <a:solidFill>
                                        <a:srgbClr val="92C5EB"/>
                                      </a:solidFill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𝒊</m:t>
                                  </m:r>
                                </m:sub>
                              </m:sSub>
                              <m:r>
                                <a:rPr lang="ru-RU" sz="4800" b="1" i="1" kern="0" dirty="0" smtClean="0">
                                  <a:solidFill>
                                    <a:srgbClr val="92C5EB"/>
                                  </a:solidFill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,</m:t>
                              </m:r>
                            </m:oMath>
                          </a14:m>
                          <a:r>
                            <a:rPr lang="en-US" sz="4800" b="1" i="0" kern="0" dirty="0">
                              <a:solidFill>
                                <a:srgbClr val="0072BC"/>
                              </a:solidFill>
                              <a:latin typeface="Arial Black"/>
                              <a:cs typeface="Segoe UI" panose="020B0502040204020203" pitchFamily="34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4800" b="1" i="1" kern="0" dirty="0" smtClean="0">
                                      <a:solidFill>
                                        <a:srgbClr val="0072BC"/>
                                      </a:solidFill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4800" b="1" i="1" kern="0" dirty="0" smtClean="0">
                                      <a:solidFill>
                                        <a:srgbClr val="0072BC"/>
                                      </a:solidFill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𝑲</m:t>
                                  </m:r>
                                </m:e>
                                <m:sub>
                                  <m:r>
                                    <a:rPr lang="en-US" sz="4800" b="1" i="1" kern="0" dirty="0" smtClean="0">
                                      <a:solidFill>
                                        <a:srgbClr val="0072BC"/>
                                      </a:solidFill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𝒅</m:t>
                                  </m:r>
                                </m:sub>
                              </m:sSub>
                            </m:oMath>
                          </a14:m>
                          <a:endParaRPr lang="ru" sz="4800" b="1" i="0" kern="0" dirty="0">
                            <a:solidFill>
                              <a:srgbClr val="0072BC"/>
                            </a:solidFill>
                            <a:latin typeface="Arial Black"/>
                            <a:cs typeface="Segoe UI" panose="020B0502040204020203" pitchFamily="34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miter lim="800000"/>
                        </a:lnL>
                        <a:lnR>
                          <a:noFill/>
                        </a:lnR>
                        <a:lnT w="6350" cap="flat" cmpd="sng" algn="ctr">
                          <a:noFill/>
                          <a:prstDash val="solid"/>
                          <a:miter lim="800000"/>
                        </a:lnT>
                        <a:lnB w="12700" cap="flat" cmpd="sng" algn="ctr">
                          <a:noFill/>
                          <a:prstDash val="solid"/>
                          <a:miter lim="800000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ru-RU" sz="2400" b="0" dirty="0"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latin typeface="Franklin Gothic Book" panose="020B0503020102020204" pitchFamily="34" charset="0"/>
                            </a:rPr>
                            <a:t>Коэффициенты усиления пропорциональной</a:t>
                          </a:r>
                          <a:r>
                            <a:rPr lang="en-US" sz="2400" b="0" dirty="0"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latin typeface="Franklin Gothic Book" panose="020B0503020102020204" pitchFamily="34" charset="0"/>
                            </a:rPr>
                            <a:t>, </a:t>
                          </a:r>
                          <a:r>
                            <a:rPr lang="ru-RU" sz="2400" b="0" dirty="0"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latin typeface="Franklin Gothic Book" panose="020B0503020102020204" pitchFamily="34" charset="0"/>
                            </a:rPr>
                            <a:t>интегральной и дифференциальной составляющих регулятора</a:t>
                          </a:r>
                          <a:endParaRPr lang="en-US" sz="2400" b="0" dirty="0">
                            <a:solidFill>
                              <a:schemeClr val="accent3">
                                <a:lumMod val="75000"/>
                              </a:schemeClr>
                            </a:solidFill>
                            <a:latin typeface="Franklin Gothic Book" panose="020B0503020102020204" pitchFamily="34" charset="0"/>
                          </a:endParaRP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6350" cap="flat" cmpd="sng" algn="ctr">
                          <a:noFill/>
                          <a:prstDash val="solid"/>
                          <a:miter lim="800000"/>
                        </a:lnT>
                        <a:lnB w="12700" cap="flat" cmpd="sng" algn="ctr">
                          <a:noFill/>
                          <a:prstDash val="solid"/>
                          <a:miter lim="800000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898860976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" name="Таблица 1">
                <a:extLst>
                  <a:ext uri="{FF2B5EF4-FFF2-40B4-BE49-F238E27FC236}">
                    <a16:creationId xmlns:a16="http://schemas.microsoft.com/office/drawing/2014/main" id="{540AB2AE-AA57-CE4D-BFE1-E5E113953F0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68676379"/>
                  </p:ext>
                </p:extLst>
              </p:nvPr>
            </p:nvGraphicFramePr>
            <p:xfrm>
              <a:off x="838200" y="5149815"/>
              <a:ext cx="10515600" cy="1325563"/>
            </p:xfrm>
            <a:graphic>
              <a:graphicData uri="http://schemas.openxmlformats.org/drawingml/2006/table">
                <a:tbl>
                  <a:tblPr firstRow="1" bandRow="1">
                    <a:noFill/>
                    <a:tableStyleId>{284E427A-3D55-4303-BF80-6455036E1DE7}</a:tableStyleId>
                  </a:tblPr>
                  <a:tblGrid>
                    <a:gridCol w="3163591">
                      <a:extLst>
                        <a:ext uri="{9D8B030D-6E8A-4147-A177-3AD203B41FA5}">
                          <a16:colId xmlns:a16="http://schemas.microsoft.com/office/drawing/2014/main" val="3245134588"/>
                        </a:ext>
                      </a:extLst>
                    </a:gridCol>
                    <a:gridCol w="7352009">
                      <a:extLst>
                        <a:ext uri="{9D8B030D-6E8A-4147-A177-3AD203B41FA5}">
                          <a16:colId xmlns:a16="http://schemas.microsoft.com/office/drawing/2014/main" val="2022675201"/>
                        </a:ext>
                      </a:extLst>
                    </a:gridCol>
                  </a:tblGrid>
                  <a:tr h="1325563"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miter lim="800000"/>
                        </a:lnL>
                        <a:lnR>
                          <a:noFill/>
                        </a:lnR>
                        <a:lnT w="6350" cap="flat" cmpd="sng" algn="ctr">
                          <a:noFill/>
                          <a:prstDash val="solid"/>
                          <a:miter lim="800000"/>
                        </a:lnT>
                        <a:lnB w="12700" cap="flat" cmpd="sng" algn="ctr">
                          <a:noFill/>
                          <a:prstDash val="solid"/>
                          <a:miter lim="800000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r="-232563" b="-54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ru-RU" sz="2400" b="0" dirty="0"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latin typeface="Franklin Gothic Book" panose="020B0503020102020204" pitchFamily="34" charset="0"/>
                            </a:rPr>
                            <a:t>Коэффициенты усиления пропорциональной</a:t>
                          </a:r>
                          <a:r>
                            <a:rPr lang="en-US" sz="2400" b="0" dirty="0"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latin typeface="Franklin Gothic Book" panose="020B0503020102020204" pitchFamily="34" charset="0"/>
                            </a:rPr>
                            <a:t>, </a:t>
                          </a:r>
                          <a:r>
                            <a:rPr lang="ru-RU" sz="2400" b="0" dirty="0"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latin typeface="Franklin Gothic Book" panose="020B0503020102020204" pitchFamily="34" charset="0"/>
                            </a:rPr>
                            <a:t>интегральной и дифференциальной составляющих регулятора</a:t>
                          </a:r>
                          <a:endParaRPr lang="en-US" sz="2400" b="0" dirty="0">
                            <a:solidFill>
                              <a:schemeClr val="accent3">
                                <a:lumMod val="75000"/>
                              </a:schemeClr>
                            </a:solidFill>
                            <a:latin typeface="Franklin Gothic Book" panose="020B0503020102020204" pitchFamily="34" charset="0"/>
                          </a:endParaRP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6350" cap="flat" cmpd="sng" algn="ctr">
                          <a:noFill/>
                          <a:prstDash val="solid"/>
                          <a:miter lim="800000"/>
                        </a:lnT>
                        <a:lnB w="12700" cap="flat" cmpd="sng" algn="ctr">
                          <a:noFill/>
                          <a:prstDash val="solid"/>
                          <a:miter lim="800000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898860976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4531727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43BA1D4D-2B0C-44B3-A721-A538AD27B5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solidFill>
                  <a:srgbClr val="0072BC"/>
                </a:solidFill>
                <a:latin typeface="Arial Black" panose="020B0A04020102020204" pitchFamily="34" charset="0"/>
              </a:rPr>
              <a:t>ЗАДАЧИ</a:t>
            </a:r>
            <a:endParaRPr lang="ru-RU" dirty="0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" name="Таблица 1">
                <a:extLst>
                  <a:ext uri="{FF2B5EF4-FFF2-40B4-BE49-F238E27FC236}">
                    <a16:creationId xmlns:a16="http://schemas.microsoft.com/office/drawing/2014/main" id="{3D7D8504-4060-43C8-8C6D-1A6C74A6D2B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60932510"/>
                  </p:ext>
                </p:extLst>
              </p:nvPr>
            </p:nvGraphicFramePr>
            <p:xfrm>
              <a:off x="838200" y="1690688"/>
              <a:ext cx="10515600" cy="4351340"/>
            </p:xfrm>
            <a:graphic>
              <a:graphicData uri="http://schemas.openxmlformats.org/drawingml/2006/table">
                <a:tbl>
                  <a:tblPr firstRow="1" bandRow="1">
                    <a:noFill/>
                    <a:tableStyleId>{284E427A-3D55-4303-BF80-6455036E1DE7}</a:tableStyleId>
                  </a:tblPr>
                  <a:tblGrid>
                    <a:gridCol w="738979">
                      <a:extLst>
                        <a:ext uri="{9D8B030D-6E8A-4147-A177-3AD203B41FA5}">
                          <a16:colId xmlns:a16="http://schemas.microsoft.com/office/drawing/2014/main" val="3270569997"/>
                        </a:ext>
                      </a:extLst>
                    </a:gridCol>
                    <a:gridCol w="9776621">
                      <a:extLst>
                        <a:ext uri="{9D8B030D-6E8A-4147-A177-3AD203B41FA5}">
                          <a16:colId xmlns:a16="http://schemas.microsoft.com/office/drawing/2014/main" val="1043991158"/>
                        </a:ext>
                      </a:extLst>
                    </a:gridCol>
                  </a:tblGrid>
                  <a:tr h="1087835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ru-RU" sz="4800" b="1" i="0" kern="0" dirty="0">
                              <a:solidFill>
                                <a:schemeClr val="accent2"/>
                              </a:solidFill>
                              <a:latin typeface="Arial Black"/>
                              <a:cs typeface="Segoe UI" panose="020B0502040204020203" pitchFamily="34" charset="0"/>
                            </a:rPr>
                            <a:t>1</a:t>
                          </a:r>
                          <a:endParaRPr lang="ru" sz="4800" b="1" i="0" kern="0" dirty="0">
                            <a:solidFill>
                              <a:schemeClr val="accent2"/>
                            </a:solidFill>
                            <a:latin typeface="Arial Black"/>
                            <a:cs typeface="Segoe UI" panose="020B0502040204020203" pitchFamily="34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miter lim="800000"/>
                        </a:lnL>
                        <a:lnR>
                          <a:noFill/>
                        </a:lnR>
                        <a:lnT w="6350" cap="flat" cmpd="sng" algn="ctr">
                          <a:noFill/>
                          <a:prstDash val="solid"/>
                          <a:miter lim="800000"/>
                        </a:lnT>
                        <a:lnB w="12700" cap="flat" cmpd="sng" algn="ctr">
                          <a:noFill/>
                          <a:prstDash val="solid"/>
                          <a:miter lim="800000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ru-RU" sz="2400" b="0" dirty="0">
                              <a:solidFill>
                                <a:srgbClr val="7C7C7C"/>
                              </a:solidFill>
                              <a:latin typeface="Franklin Gothic Book" panose="020B0503020102020204" pitchFamily="34" charset="0"/>
                            </a:rPr>
                            <a:t>Изменить положение отсчёта угла с нижнего устойчивого положения на верхнее положение неустойчивого равновесия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6350" cap="flat" cmpd="sng" algn="ctr">
                          <a:noFill/>
                          <a:prstDash val="solid"/>
                          <a:miter lim="800000"/>
                        </a:lnT>
                        <a:lnB w="12700" cap="flat" cmpd="sng" algn="ctr">
                          <a:noFill/>
                          <a:prstDash val="solid"/>
                          <a:miter lim="800000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965596042"/>
                      </a:ext>
                    </a:extLst>
                  </a:tr>
                  <a:tr h="1087835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ru-RU" sz="4800" b="1" i="0" kern="0" dirty="0">
                              <a:solidFill>
                                <a:schemeClr val="accent2"/>
                              </a:solidFill>
                              <a:latin typeface="Arial Black"/>
                              <a:cs typeface="Segoe UI" panose="020B0502040204020203" pitchFamily="34" charset="0"/>
                            </a:rPr>
                            <a:t>2</a:t>
                          </a:r>
                          <a:endParaRPr lang="ru-RU" sz="4800" i="0" dirty="0">
                            <a:solidFill>
                              <a:schemeClr val="accent2"/>
                            </a:solidFill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miter lim="800000"/>
                        </a:lnL>
                        <a:lnR w="6350" cap="flat" cmpd="sng" algn="ctr">
                          <a:noFill/>
                          <a:prstDash val="solid"/>
                          <a:miter lim="800000"/>
                        </a:lnR>
                        <a:lnT w="12700" cap="flat" cmpd="sng" algn="ctr">
                          <a:noFill/>
                          <a:prstDash val="solid"/>
                          <a:miter lim="800000"/>
                        </a:lnT>
                        <a:lnB w="6350" cap="flat" cmpd="sng" algn="ctr">
                          <a:noFill/>
                          <a:prstDash val="solid"/>
                          <a:miter lim="800000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just">
                            <a:buNone/>
                          </a:pPr>
                          <a:r>
                            <a:rPr lang="ru-RU" sz="2400" dirty="0">
                              <a:solidFill>
                                <a:srgbClr val="7C7C7C"/>
                              </a:solidFill>
                            </a:rPr>
                            <a:t>Реализовать математическую модель обратного маятника в </a:t>
                          </a:r>
                          <a:r>
                            <a:rPr lang="ru-RU" sz="2400" dirty="0" err="1">
                              <a:solidFill>
                                <a:srgbClr val="7C7C7C"/>
                              </a:solidFill>
                            </a:rPr>
                            <a:t>Simulink</a:t>
                          </a:r>
                          <a:r>
                            <a:rPr lang="ru-RU" sz="2400" dirty="0">
                              <a:solidFill>
                                <a:srgbClr val="7C7C7C"/>
                              </a:solidFill>
                            </a:rPr>
                            <a:t>, задав силу </a:t>
                          </a:r>
                          <a14:m>
                            <m:oMath xmlns:m="http://schemas.openxmlformats.org/officeDocument/2006/math">
                              <m:r>
                                <a:rPr lang="ru-RU" sz="2400" i="1" dirty="0" smtClean="0">
                                  <a:solidFill>
                                    <a:srgbClr val="7C7C7C"/>
                                  </a:solidFill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oMath>
                          </a14:m>
                          <a:r>
                            <a:rPr lang="ru-RU" sz="2400" dirty="0">
                              <a:solidFill>
                                <a:srgbClr val="7C7C7C"/>
                              </a:solidFill>
                            </a:rPr>
                            <a:t> константой</a:t>
                          </a: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miter lim="800000"/>
                        </a:lnL>
                        <a:lnR w="6350" cap="flat" cmpd="sng" algn="ctr">
                          <a:noFill/>
                          <a:prstDash val="solid"/>
                          <a:miter lim="800000"/>
                        </a:lnR>
                        <a:lnT w="12700" cap="flat" cmpd="sng" algn="ctr">
                          <a:noFill/>
                          <a:prstDash val="solid"/>
                          <a:miter lim="800000"/>
                        </a:lnT>
                        <a:lnB w="6350" cap="flat" cmpd="sng" algn="ctr">
                          <a:noFill/>
                          <a:prstDash val="solid"/>
                          <a:miter lim="800000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851205611"/>
                      </a:ext>
                    </a:extLst>
                  </a:tr>
                  <a:tr h="1087835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ru-RU" sz="4800" b="1" i="0" kern="0" dirty="0">
                              <a:solidFill>
                                <a:schemeClr val="accent2"/>
                              </a:solidFill>
                              <a:latin typeface="Arial Black"/>
                              <a:cs typeface="Segoe UI" panose="020B0502040204020203" pitchFamily="34" charset="0"/>
                            </a:rPr>
                            <a:t>3</a:t>
                          </a:r>
                          <a:endParaRPr lang="ru" sz="4800" b="1" i="0" kern="0" dirty="0">
                            <a:solidFill>
                              <a:schemeClr val="accent2"/>
                            </a:solidFill>
                            <a:latin typeface="Arial Black"/>
                            <a:cs typeface="Segoe UI" panose="020B0502040204020203" pitchFamily="34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miter lim="800000"/>
                        </a:lnL>
                        <a:lnR w="6350" cap="flat" cmpd="sng" algn="ctr">
                          <a:noFill/>
                          <a:prstDash val="solid"/>
                          <a:miter lim="800000"/>
                        </a:lnR>
                        <a:lnT w="6350" cap="flat" cmpd="sng" algn="ctr">
                          <a:noFill/>
                          <a:prstDash val="solid"/>
                          <a:miter lim="800000"/>
                        </a:lnT>
                        <a:lnB w="6350" cap="flat" cmpd="sng" algn="ctr">
                          <a:noFill/>
                          <a:prstDash val="solid"/>
                          <a:miter lim="800000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just">
                            <a:buNone/>
                          </a:pPr>
                          <a:r>
                            <a:rPr lang="ru-RU" sz="2400" dirty="0">
                              <a:solidFill>
                                <a:srgbClr val="7C7C7C"/>
                              </a:solidFill>
                            </a:rPr>
                            <a:t>Добавить в модель регулятор, который бы удерживал маятник в положении равновесия</a:t>
                          </a: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miter lim="800000"/>
                        </a:lnL>
                        <a:lnR w="6350" cap="flat" cmpd="sng" algn="ctr">
                          <a:noFill/>
                          <a:prstDash val="solid"/>
                          <a:miter lim="800000"/>
                        </a:lnR>
                        <a:lnT w="6350" cap="flat" cmpd="sng" algn="ctr">
                          <a:noFill/>
                          <a:prstDash val="solid"/>
                          <a:miter lim="800000"/>
                        </a:lnT>
                        <a:lnB w="6350" cap="flat" cmpd="sng" algn="ctr">
                          <a:noFill/>
                          <a:prstDash val="solid"/>
                          <a:miter lim="800000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597446880"/>
                      </a:ext>
                    </a:extLst>
                  </a:tr>
                  <a:tr h="1087835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ru-RU" sz="4800" b="1" i="0" kern="0" dirty="0">
                              <a:solidFill>
                                <a:schemeClr val="accent2"/>
                              </a:solidFill>
                              <a:latin typeface="Arial Black" panose="020B0604020202020204" pitchFamily="34" charset="0"/>
                              <a:cs typeface="Arial Black" panose="020B0604020202020204" pitchFamily="34" charset="0"/>
                            </a:rPr>
                            <a:t>4</a:t>
                          </a:r>
                          <a:endParaRPr lang="ru" sz="4800" b="1" i="0" kern="0" dirty="0">
                            <a:solidFill>
                              <a:schemeClr val="accent2"/>
                            </a:solidFill>
                            <a:latin typeface="Arial Black" panose="020B0604020202020204" pitchFamily="34" charset="0"/>
                            <a:cs typeface="Arial Black" panose="020B0604020202020204" pitchFamily="34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miter lim="800000"/>
                        </a:lnL>
                        <a:lnR w="6350" cap="flat" cmpd="sng" algn="ctr">
                          <a:noFill/>
                          <a:prstDash val="solid"/>
                          <a:miter lim="800000"/>
                        </a:lnR>
                        <a:lnT w="6350" cap="flat" cmpd="sng" algn="ctr">
                          <a:noFill/>
                          <a:prstDash val="solid"/>
                          <a:miter lim="800000"/>
                        </a:lnT>
                        <a:lnB w="6350" cap="flat" cmpd="sng" algn="ctr">
                          <a:noFill/>
                          <a:prstDash val="solid"/>
                          <a:miter lim="800000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just">
                            <a:buNone/>
                          </a:pPr>
                          <a:r>
                            <a:rPr lang="ru-RU" sz="2400" dirty="0">
                              <a:solidFill>
                                <a:srgbClr val="7C7C7C"/>
                              </a:solidFill>
                            </a:rPr>
                            <a:t>Написать отчёт: создать </a:t>
                          </a:r>
                          <a:r>
                            <a:rPr lang="en-US" sz="2400" dirty="0">
                              <a:solidFill>
                                <a:srgbClr val="7C7C7C"/>
                              </a:solidFill>
                            </a:rPr>
                            <a:t>.mlx </a:t>
                          </a:r>
                          <a:r>
                            <a:rPr lang="ru-RU" sz="2400" dirty="0">
                              <a:solidFill>
                                <a:srgbClr val="7C7C7C"/>
                              </a:solidFill>
                            </a:rPr>
                            <a:t>файл, в котором описать все типы пройденных моделей маятников, построить графики и сделать выводы</a:t>
                          </a: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miter lim="800000"/>
                        </a:lnL>
                        <a:lnR w="6350" cap="flat" cmpd="sng" algn="ctr">
                          <a:noFill/>
                          <a:prstDash val="solid"/>
                          <a:miter lim="800000"/>
                        </a:lnR>
                        <a:lnT w="6350" cap="flat" cmpd="sng" algn="ctr">
                          <a:noFill/>
                          <a:prstDash val="solid"/>
                          <a:miter lim="800000"/>
                        </a:lnT>
                        <a:lnB w="6350" cap="flat" cmpd="sng" algn="ctr">
                          <a:noFill/>
                          <a:prstDash val="solid"/>
                          <a:miter lim="800000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97719571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" name="Таблица 1">
                <a:extLst>
                  <a:ext uri="{FF2B5EF4-FFF2-40B4-BE49-F238E27FC236}">
                    <a16:creationId xmlns:a16="http://schemas.microsoft.com/office/drawing/2014/main" id="{3D7D8504-4060-43C8-8C6D-1A6C74A6D2B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60932510"/>
                  </p:ext>
                </p:extLst>
              </p:nvPr>
            </p:nvGraphicFramePr>
            <p:xfrm>
              <a:off x="838200" y="1690688"/>
              <a:ext cx="10515600" cy="4351340"/>
            </p:xfrm>
            <a:graphic>
              <a:graphicData uri="http://schemas.openxmlformats.org/drawingml/2006/table">
                <a:tbl>
                  <a:tblPr firstRow="1" bandRow="1">
                    <a:noFill/>
                    <a:tableStyleId>{284E427A-3D55-4303-BF80-6455036E1DE7}</a:tableStyleId>
                  </a:tblPr>
                  <a:tblGrid>
                    <a:gridCol w="738979">
                      <a:extLst>
                        <a:ext uri="{9D8B030D-6E8A-4147-A177-3AD203B41FA5}">
                          <a16:colId xmlns:a16="http://schemas.microsoft.com/office/drawing/2014/main" val="3270569997"/>
                        </a:ext>
                      </a:extLst>
                    </a:gridCol>
                    <a:gridCol w="9776621">
                      <a:extLst>
                        <a:ext uri="{9D8B030D-6E8A-4147-A177-3AD203B41FA5}">
                          <a16:colId xmlns:a16="http://schemas.microsoft.com/office/drawing/2014/main" val="1043991158"/>
                        </a:ext>
                      </a:extLst>
                    </a:gridCol>
                  </a:tblGrid>
                  <a:tr h="1087835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ru-RU" sz="4800" b="1" i="0" kern="0" dirty="0">
                              <a:solidFill>
                                <a:schemeClr val="accent2"/>
                              </a:solidFill>
                              <a:latin typeface="Arial Black"/>
                              <a:cs typeface="Segoe UI" panose="020B0502040204020203" pitchFamily="34" charset="0"/>
                            </a:rPr>
                            <a:t>1</a:t>
                          </a:r>
                          <a:endParaRPr lang="ru" sz="4800" b="1" i="0" kern="0" dirty="0">
                            <a:solidFill>
                              <a:schemeClr val="accent2"/>
                            </a:solidFill>
                            <a:latin typeface="Arial Black"/>
                            <a:cs typeface="Segoe UI" panose="020B0502040204020203" pitchFamily="34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miter lim="800000"/>
                        </a:lnL>
                        <a:lnR>
                          <a:noFill/>
                        </a:lnR>
                        <a:lnT w="6350" cap="flat" cmpd="sng" algn="ctr">
                          <a:noFill/>
                          <a:prstDash val="solid"/>
                          <a:miter lim="800000"/>
                        </a:lnT>
                        <a:lnB w="12700" cap="flat" cmpd="sng" algn="ctr">
                          <a:noFill/>
                          <a:prstDash val="solid"/>
                          <a:miter lim="800000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ru-RU" sz="2400" b="0" dirty="0">
                              <a:solidFill>
                                <a:srgbClr val="7C7C7C"/>
                              </a:solidFill>
                              <a:latin typeface="Franklin Gothic Book" panose="020B0503020102020204" pitchFamily="34" charset="0"/>
                            </a:rPr>
                            <a:t>Изменить положение отсчёта угла с нижнего устойчивого положения на верхнее положение неустойчивого равновесия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6350" cap="flat" cmpd="sng" algn="ctr">
                          <a:noFill/>
                          <a:prstDash val="solid"/>
                          <a:miter lim="800000"/>
                        </a:lnT>
                        <a:lnB w="12700" cap="flat" cmpd="sng" algn="ctr">
                          <a:noFill/>
                          <a:prstDash val="solid"/>
                          <a:miter lim="800000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965596042"/>
                      </a:ext>
                    </a:extLst>
                  </a:tr>
                  <a:tr h="1087835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ru-RU" sz="4800" b="1" i="0" kern="0" dirty="0">
                              <a:solidFill>
                                <a:schemeClr val="accent2"/>
                              </a:solidFill>
                              <a:latin typeface="Arial Black"/>
                              <a:cs typeface="Segoe UI" panose="020B0502040204020203" pitchFamily="34" charset="0"/>
                            </a:rPr>
                            <a:t>2</a:t>
                          </a:r>
                          <a:endParaRPr lang="ru-RU" sz="4800" i="0" dirty="0">
                            <a:solidFill>
                              <a:schemeClr val="accent2"/>
                            </a:solidFill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miter lim="800000"/>
                        </a:lnL>
                        <a:lnR w="6350" cap="flat" cmpd="sng" algn="ctr">
                          <a:noFill/>
                          <a:prstDash val="solid"/>
                          <a:miter lim="800000"/>
                        </a:lnR>
                        <a:lnT w="12700" cap="flat" cmpd="sng" algn="ctr">
                          <a:noFill/>
                          <a:prstDash val="solid"/>
                          <a:miter lim="800000"/>
                        </a:lnT>
                        <a:lnB w="6350" cap="flat" cmpd="sng" algn="ctr">
                          <a:noFill/>
                          <a:prstDash val="solid"/>
                          <a:miter lim="800000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miter lim="800000"/>
                        </a:lnL>
                        <a:lnR w="6350" cap="flat" cmpd="sng" algn="ctr">
                          <a:noFill/>
                          <a:prstDash val="solid"/>
                          <a:miter lim="800000"/>
                        </a:lnR>
                        <a:lnT w="12700" cap="flat" cmpd="sng" algn="ctr">
                          <a:noFill/>
                          <a:prstDash val="solid"/>
                          <a:miter lim="800000"/>
                        </a:lnT>
                        <a:lnB w="6350" cap="flat" cmpd="sng" algn="ctr">
                          <a:noFill/>
                          <a:prstDash val="solid"/>
                          <a:miter lim="800000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7539" t="-100559" b="-21620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851205611"/>
                      </a:ext>
                    </a:extLst>
                  </a:tr>
                  <a:tr h="1087835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ru-RU" sz="4800" b="1" i="0" kern="0" dirty="0">
                              <a:solidFill>
                                <a:schemeClr val="accent2"/>
                              </a:solidFill>
                              <a:latin typeface="Arial Black"/>
                              <a:cs typeface="Segoe UI" panose="020B0502040204020203" pitchFamily="34" charset="0"/>
                            </a:rPr>
                            <a:t>3</a:t>
                          </a:r>
                          <a:endParaRPr lang="ru" sz="4800" b="1" i="0" kern="0" dirty="0">
                            <a:solidFill>
                              <a:schemeClr val="accent2"/>
                            </a:solidFill>
                            <a:latin typeface="Arial Black"/>
                            <a:cs typeface="Segoe UI" panose="020B0502040204020203" pitchFamily="34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miter lim="800000"/>
                        </a:lnL>
                        <a:lnR w="6350" cap="flat" cmpd="sng" algn="ctr">
                          <a:noFill/>
                          <a:prstDash val="solid"/>
                          <a:miter lim="800000"/>
                        </a:lnR>
                        <a:lnT w="6350" cap="flat" cmpd="sng" algn="ctr">
                          <a:noFill/>
                          <a:prstDash val="solid"/>
                          <a:miter lim="800000"/>
                        </a:lnT>
                        <a:lnB w="6350" cap="flat" cmpd="sng" algn="ctr">
                          <a:noFill/>
                          <a:prstDash val="solid"/>
                          <a:miter lim="800000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just">
                            <a:buNone/>
                          </a:pPr>
                          <a:r>
                            <a:rPr lang="ru-RU" sz="2400" dirty="0">
                              <a:solidFill>
                                <a:srgbClr val="7C7C7C"/>
                              </a:solidFill>
                            </a:rPr>
                            <a:t>Добавить в модель регулятор, который бы удерживал маятник в положении равновесия</a:t>
                          </a: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miter lim="800000"/>
                        </a:lnL>
                        <a:lnR w="6350" cap="flat" cmpd="sng" algn="ctr">
                          <a:noFill/>
                          <a:prstDash val="solid"/>
                          <a:miter lim="800000"/>
                        </a:lnR>
                        <a:lnT w="6350" cap="flat" cmpd="sng" algn="ctr">
                          <a:noFill/>
                          <a:prstDash val="solid"/>
                          <a:miter lim="800000"/>
                        </a:lnT>
                        <a:lnB w="6350" cap="flat" cmpd="sng" algn="ctr">
                          <a:noFill/>
                          <a:prstDash val="solid"/>
                          <a:miter lim="800000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597446880"/>
                      </a:ext>
                    </a:extLst>
                  </a:tr>
                  <a:tr h="1087835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ru-RU" sz="4800" b="1" i="0" kern="0" dirty="0">
                              <a:solidFill>
                                <a:schemeClr val="accent2"/>
                              </a:solidFill>
                              <a:latin typeface="Arial Black" panose="020B0604020202020204" pitchFamily="34" charset="0"/>
                              <a:cs typeface="Arial Black" panose="020B0604020202020204" pitchFamily="34" charset="0"/>
                            </a:rPr>
                            <a:t>4</a:t>
                          </a:r>
                          <a:endParaRPr lang="ru" sz="4800" b="1" i="0" kern="0" dirty="0">
                            <a:solidFill>
                              <a:schemeClr val="accent2"/>
                            </a:solidFill>
                            <a:latin typeface="Arial Black" panose="020B0604020202020204" pitchFamily="34" charset="0"/>
                            <a:cs typeface="Arial Black" panose="020B0604020202020204" pitchFamily="34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miter lim="800000"/>
                        </a:lnL>
                        <a:lnR w="6350" cap="flat" cmpd="sng" algn="ctr">
                          <a:noFill/>
                          <a:prstDash val="solid"/>
                          <a:miter lim="800000"/>
                        </a:lnR>
                        <a:lnT w="6350" cap="flat" cmpd="sng" algn="ctr">
                          <a:noFill/>
                          <a:prstDash val="solid"/>
                          <a:miter lim="800000"/>
                        </a:lnT>
                        <a:lnB w="6350" cap="flat" cmpd="sng" algn="ctr">
                          <a:noFill/>
                          <a:prstDash val="solid"/>
                          <a:miter lim="800000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just">
                            <a:buNone/>
                          </a:pPr>
                          <a:r>
                            <a:rPr lang="ru-RU" sz="2400" dirty="0">
                              <a:solidFill>
                                <a:srgbClr val="7C7C7C"/>
                              </a:solidFill>
                            </a:rPr>
                            <a:t>Написать отчёт: создать </a:t>
                          </a:r>
                          <a:r>
                            <a:rPr lang="en-US" sz="2400" dirty="0">
                              <a:solidFill>
                                <a:srgbClr val="7C7C7C"/>
                              </a:solidFill>
                            </a:rPr>
                            <a:t>.mlx </a:t>
                          </a:r>
                          <a:r>
                            <a:rPr lang="ru-RU" sz="2400" dirty="0">
                              <a:solidFill>
                                <a:srgbClr val="7C7C7C"/>
                              </a:solidFill>
                            </a:rPr>
                            <a:t>файл, в котором описать все типы пройденных моделей маятников, построить графики и сделать выводы</a:t>
                          </a: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miter lim="800000"/>
                        </a:lnL>
                        <a:lnR w="6350" cap="flat" cmpd="sng" algn="ctr">
                          <a:noFill/>
                          <a:prstDash val="solid"/>
                          <a:miter lim="800000"/>
                        </a:lnR>
                        <a:lnT w="6350" cap="flat" cmpd="sng" algn="ctr">
                          <a:noFill/>
                          <a:prstDash val="solid"/>
                          <a:miter lim="800000"/>
                        </a:lnT>
                        <a:lnB w="6350" cap="flat" cmpd="sng" algn="ctr">
                          <a:noFill/>
                          <a:prstDash val="solid"/>
                          <a:miter lim="800000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97719571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5221972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43BA1D4D-2B0C-44B3-A721-A538AD27B5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4400">
                <a:solidFill>
                  <a:srgbClr val="0072BC"/>
                </a:solidFill>
                <a:latin typeface="Arial Black" panose="020B0A04020102020204" pitchFamily="34" charset="0"/>
              </a:rPr>
              <a:t>ПОЛЕЗНЫЕ КОМБИНАЦИИ</a:t>
            </a:r>
            <a:endParaRPr lang="ru-RU" dirty="0"/>
          </a:p>
        </p:txBody>
      </p:sp>
      <p:graphicFrame>
        <p:nvGraphicFramePr>
          <p:cNvPr id="8" name="Таблица 4">
            <a:extLst>
              <a:ext uri="{FF2B5EF4-FFF2-40B4-BE49-F238E27FC236}">
                <a16:creationId xmlns:a16="http://schemas.microsoft.com/office/drawing/2014/main" id="{1989E73F-CF1D-4D59-A35F-755832C687A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50398929"/>
              </p:ext>
            </p:extLst>
          </p:nvPr>
        </p:nvGraphicFramePr>
        <p:xfrm>
          <a:off x="838200" y="1825625"/>
          <a:ext cx="10515599" cy="4428720"/>
        </p:xfrm>
        <a:graphic>
          <a:graphicData uri="http://schemas.openxmlformats.org/drawingml/2006/table">
            <a:tbl>
              <a:tblPr firstRow="1" bandRow="1">
                <a:noFill/>
                <a:tableStyleId>{284E427A-3D55-4303-BF80-6455036E1DE7}</a:tableStyleId>
              </a:tblPr>
              <a:tblGrid>
                <a:gridCol w="2468526">
                  <a:extLst>
                    <a:ext uri="{9D8B030D-6E8A-4147-A177-3AD203B41FA5}">
                      <a16:colId xmlns:a16="http://schemas.microsoft.com/office/drawing/2014/main" val="2332697642"/>
                    </a:ext>
                  </a:extLst>
                </a:gridCol>
                <a:gridCol w="2817627">
                  <a:extLst>
                    <a:ext uri="{9D8B030D-6E8A-4147-A177-3AD203B41FA5}">
                      <a16:colId xmlns:a16="http://schemas.microsoft.com/office/drawing/2014/main" val="4021918239"/>
                    </a:ext>
                  </a:extLst>
                </a:gridCol>
                <a:gridCol w="2742314">
                  <a:extLst>
                    <a:ext uri="{9D8B030D-6E8A-4147-A177-3AD203B41FA5}">
                      <a16:colId xmlns:a16="http://schemas.microsoft.com/office/drawing/2014/main" val="3468887847"/>
                    </a:ext>
                  </a:extLst>
                </a:gridCol>
                <a:gridCol w="2487132">
                  <a:extLst>
                    <a:ext uri="{9D8B030D-6E8A-4147-A177-3AD203B41FA5}">
                      <a16:colId xmlns:a16="http://schemas.microsoft.com/office/drawing/2014/main" val="1581957581"/>
                    </a:ext>
                  </a:extLst>
                </a:gridCol>
              </a:tblGrid>
              <a:tr h="720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600" b="1" i="0" kern="0" dirty="0">
                          <a:solidFill>
                            <a:srgbClr val="0072BC"/>
                          </a:solidFill>
                          <a:latin typeface="Arial Black"/>
                          <a:cs typeface="Segoe UI" panose="020B0502040204020203" pitchFamily="34" charset="0"/>
                        </a:rPr>
                        <a:t>Space</a:t>
                      </a:r>
                      <a:endParaRPr lang="ru" sz="3600" b="1" i="0" kern="0" dirty="0">
                        <a:solidFill>
                          <a:srgbClr val="0072BC"/>
                        </a:solidFill>
                        <a:latin typeface="Arial Black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miter lim="800000"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000" b="0" dirty="0">
                          <a:solidFill>
                            <a:schemeClr val="accent3">
                              <a:lumMod val="75000"/>
                            </a:schemeClr>
                          </a:solidFill>
                          <a:latin typeface="Franklin Gothic Book" panose="020B0503020102020204" pitchFamily="34" charset="0"/>
                        </a:rPr>
                        <a:t>отобразить модель на весь экран</a:t>
                      </a:r>
                      <a:endParaRPr lang="en-US" sz="2000" b="0" dirty="0">
                        <a:solidFill>
                          <a:schemeClr val="accent3">
                            <a:lumMod val="75000"/>
                          </a:schemeClr>
                        </a:solidFill>
                        <a:latin typeface="Franklin Gothic Book" panose="020B05030201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sz="3600" b="1" i="0" kern="0" dirty="0">
                          <a:solidFill>
                            <a:srgbClr val="92C5EB"/>
                          </a:solidFill>
                          <a:latin typeface="Arial Black" panose="020B0604020202020204" pitchFamily="34" charset="0"/>
                          <a:cs typeface="Arial Black" panose="020B0604020202020204" pitchFamily="34" charset="0"/>
                        </a:rPr>
                        <a:t>Ctrl + G</a:t>
                      </a:r>
                      <a:endParaRPr lang="ru" sz="3600" b="1" i="0" kern="0" dirty="0">
                        <a:solidFill>
                          <a:srgbClr val="92C5EB"/>
                        </a:solidFill>
                        <a:latin typeface="Arial Black" panose="020B0604020202020204" pitchFamily="34" charset="0"/>
                        <a:cs typeface="Arial Black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2000" b="0">
                          <a:solidFill>
                            <a:schemeClr val="accent3">
                              <a:lumMod val="75000"/>
                            </a:schemeClr>
                          </a:solidFill>
                          <a:latin typeface="Franklin Gothic Book" panose="020B0503020102020204" pitchFamily="34" charset="0"/>
                        </a:rPr>
                        <a:t>создать подсистему</a:t>
                      </a:r>
                      <a:endParaRPr lang="ru-RU"/>
                    </a:p>
                  </a:txBody>
                  <a:tcPr anchor="ctr">
                    <a:lnL>
                      <a:noFill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8015344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algn="l"/>
                      <a:r>
                        <a:rPr lang="en-US" sz="3600" b="1" i="0" kern="0" dirty="0">
                          <a:solidFill>
                            <a:srgbClr val="92C5EB"/>
                          </a:solidFill>
                          <a:latin typeface="Arial Black"/>
                          <a:cs typeface="Segoe UI" panose="020B0502040204020203" pitchFamily="34" charset="0"/>
                        </a:rPr>
                        <a:t>Ctrl + I</a:t>
                      </a:r>
                      <a:endParaRPr lang="ru-RU" sz="3600" i="0" dirty="0"/>
                    </a:p>
                  </a:txBody>
                  <a:tcPr anchor="ctr">
                    <a:lnL w="6350" cap="flat" cmpd="sng" algn="ctr">
                      <a:noFill/>
                      <a:prstDash val="solid"/>
                      <a:miter lim="800000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000" dirty="0">
                          <a:solidFill>
                            <a:schemeClr val="accent3">
                              <a:lumMod val="75000"/>
                            </a:schemeClr>
                          </a:solidFill>
                          <a:latin typeface="Franklin Gothic Book" panose="020B0503020102020204" pitchFamily="34" charset="0"/>
                        </a:rPr>
                        <a:t>отразить блок</a:t>
                      </a:r>
                      <a:endParaRPr lang="en-US" sz="2000" dirty="0">
                        <a:solidFill>
                          <a:schemeClr val="accent3">
                            <a:lumMod val="75000"/>
                          </a:schemeClr>
                        </a:solidFill>
                        <a:latin typeface="Franklin Gothic Book" panose="020B050302010202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miter lim="800000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sz="3600" b="1" i="0" kern="0" dirty="0">
                          <a:solidFill>
                            <a:srgbClr val="0072BC"/>
                          </a:solidFill>
                          <a:latin typeface="Arial Black" panose="020B0604020202020204" pitchFamily="34" charset="0"/>
                          <a:cs typeface="Arial Black" panose="020B0604020202020204" pitchFamily="34" charset="0"/>
                        </a:rPr>
                        <a:t>Ctrl + M</a:t>
                      </a:r>
                      <a:endParaRPr lang="ru" sz="3600" b="1" i="0" kern="0" dirty="0">
                        <a:solidFill>
                          <a:srgbClr val="0072BC"/>
                        </a:solidFill>
                        <a:latin typeface="Arial Black" panose="020B0604020202020204" pitchFamily="34" charset="0"/>
                        <a:cs typeface="Arial Black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miter lim="800000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2000">
                          <a:solidFill>
                            <a:schemeClr val="accent3">
                              <a:lumMod val="75000"/>
                            </a:schemeClr>
                          </a:solidFill>
                          <a:latin typeface="Franklin Gothic Book" panose="020B0503020102020204" pitchFamily="34" charset="0"/>
                        </a:rPr>
                        <a:t>создать маску подсистеме</a:t>
                      </a:r>
                      <a:endParaRPr lang="ru-RU"/>
                    </a:p>
                  </a:txBody>
                  <a:tcPr anchor="ctr">
                    <a:lnL w="6350" cap="flat" cmpd="sng" algn="ctr">
                      <a:noFill/>
                      <a:prstDash val="solid"/>
                      <a:miter lim="800000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4450764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sz="3600" b="1" i="0" kern="0" dirty="0">
                          <a:solidFill>
                            <a:srgbClr val="0072BC"/>
                          </a:solidFill>
                          <a:latin typeface="Arial Black"/>
                          <a:cs typeface="Segoe UI" panose="020B0502040204020203" pitchFamily="34" charset="0"/>
                        </a:rPr>
                        <a:t>Ctrl + T</a:t>
                      </a:r>
                      <a:endParaRPr lang="ru" sz="3600" b="1" i="0" kern="0" dirty="0">
                        <a:solidFill>
                          <a:srgbClr val="0072BC"/>
                        </a:solidFill>
                        <a:latin typeface="Arial Black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miter lim="800000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000" dirty="0">
                          <a:solidFill>
                            <a:schemeClr val="accent3">
                              <a:lumMod val="75000"/>
                            </a:schemeClr>
                          </a:solidFill>
                          <a:latin typeface="Franklin Gothic Book" panose="020B0503020102020204" pitchFamily="34" charset="0"/>
                        </a:rPr>
                        <a:t>запуск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miter lim="800000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sz="3600" b="1" i="0" kern="0" dirty="0">
                          <a:solidFill>
                            <a:srgbClr val="92C5EB"/>
                          </a:solidFill>
                          <a:latin typeface="Arial Black" panose="020B0604020202020204" pitchFamily="34" charset="0"/>
                          <a:cs typeface="Arial Black" panose="020B0604020202020204" pitchFamily="34" charset="0"/>
                        </a:rPr>
                        <a:t>Ctrl + D</a:t>
                      </a:r>
                      <a:endParaRPr lang="ru" sz="3600" b="1" i="0" kern="0" dirty="0">
                        <a:solidFill>
                          <a:srgbClr val="92C5EB"/>
                        </a:solidFill>
                        <a:latin typeface="Arial Black" panose="020B0604020202020204" pitchFamily="34" charset="0"/>
                        <a:cs typeface="Arial Black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miter lim="800000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2000">
                          <a:solidFill>
                            <a:schemeClr val="accent3">
                              <a:lumMod val="75000"/>
                            </a:schemeClr>
                          </a:solidFill>
                          <a:latin typeface="Franklin Gothic Book" panose="020B0503020102020204" pitchFamily="34" charset="0"/>
                        </a:rPr>
                        <a:t>компиляция</a:t>
                      </a:r>
                      <a:endParaRPr lang="ru-RU"/>
                    </a:p>
                  </a:txBody>
                  <a:tcPr anchor="ctr">
                    <a:lnL w="6350" cap="flat" cmpd="sng" algn="ctr">
                      <a:noFill/>
                      <a:prstDash val="solid"/>
                      <a:miter lim="800000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3737171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sz="3600" b="1" i="0" kern="0" dirty="0">
                          <a:solidFill>
                            <a:srgbClr val="92C5EB"/>
                          </a:solidFill>
                          <a:latin typeface="Arial Black"/>
                          <a:cs typeface="Segoe UI" panose="020B0502040204020203" pitchFamily="34" charset="0"/>
                        </a:rPr>
                        <a:t>Ctrl + Shift + Y</a:t>
                      </a:r>
                      <a:endParaRPr lang="ru" sz="3600" b="1" i="0" kern="0" dirty="0">
                        <a:solidFill>
                          <a:srgbClr val="92C5EB"/>
                        </a:solidFill>
                        <a:latin typeface="Arial Black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miter lim="800000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000" dirty="0">
                          <a:solidFill>
                            <a:schemeClr val="accent3">
                              <a:lumMod val="75000"/>
                            </a:schemeClr>
                          </a:solidFill>
                          <a:latin typeface="Franklin Gothic Book" panose="020B0503020102020204" pitchFamily="34" charset="0"/>
                        </a:rPr>
                        <a:t>закомментировать и «пропустить» сигнал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miter lim="800000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sz="3600" b="1" i="0" kern="0" dirty="0">
                          <a:solidFill>
                            <a:srgbClr val="0072BC"/>
                          </a:solidFill>
                          <a:latin typeface="Arial Black" panose="020B0604020202020204" pitchFamily="34" charset="0"/>
                          <a:cs typeface="Arial Black" panose="020B0604020202020204" pitchFamily="34" charset="0"/>
                        </a:rPr>
                        <a:t>Ctrl + Shift + X </a:t>
                      </a:r>
                      <a:endParaRPr lang="ru" sz="3600" b="1" i="0" kern="0" dirty="0">
                        <a:solidFill>
                          <a:srgbClr val="0072BC"/>
                        </a:solidFill>
                        <a:latin typeface="Arial Black" panose="020B0604020202020204" pitchFamily="34" charset="0"/>
                        <a:cs typeface="Arial Black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miter lim="800000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2000" dirty="0">
                          <a:solidFill>
                            <a:schemeClr val="accent3">
                              <a:lumMod val="75000"/>
                            </a:schemeClr>
                          </a:solidFill>
                          <a:latin typeface="Franklin Gothic Book" panose="020B0503020102020204" pitchFamily="34" charset="0"/>
                        </a:rPr>
                        <a:t>закомментировать и «остановить» сигнал</a:t>
                      </a:r>
                      <a:endParaRPr lang="ru-RU" dirty="0"/>
                    </a:p>
                  </a:txBody>
                  <a:tcPr anchor="ctr">
                    <a:lnL w="6350" cap="flat" cmpd="sng" algn="ctr">
                      <a:noFill/>
                      <a:prstDash val="solid"/>
                      <a:miter lim="800000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2334727"/>
                  </a:ext>
                </a:extLst>
              </a:tr>
              <a:tr h="1080000"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1" i="0" kern="0" dirty="0">
                          <a:solidFill>
                            <a:srgbClr val="0072BC"/>
                          </a:solidFill>
                          <a:latin typeface="Arial Black"/>
                          <a:cs typeface="Segoe UI" panose="020B0502040204020203" pitchFamily="34" charset="0"/>
                        </a:rPr>
                        <a:t>Ctrl</a:t>
                      </a:r>
                      <a:r>
                        <a:rPr lang="en-US" sz="2000" b="1" i="0" kern="0" dirty="0">
                          <a:solidFill>
                            <a:srgbClr val="0072BC"/>
                          </a:solidFill>
                          <a:latin typeface="Arial Black"/>
                          <a:cs typeface="Segoe UI" panose="020B0502040204020203" pitchFamily="34" charset="0"/>
                        </a:rPr>
                        <a:t> </a:t>
                      </a:r>
                      <a:r>
                        <a:rPr lang="en-US" sz="2800" b="1" i="0" kern="0" dirty="0">
                          <a:solidFill>
                            <a:srgbClr val="0072BC"/>
                          </a:solidFill>
                          <a:latin typeface="Arial Black"/>
                          <a:cs typeface="Segoe UI" panose="020B0502040204020203" pitchFamily="34" charset="0"/>
                        </a:rPr>
                        <a:t>+ </a:t>
                      </a:r>
                      <a:r>
                        <a:rPr lang="ru-RU" sz="2800" b="1" i="0" kern="0" dirty="0">
                          <a:solidFill>
                            <a:srgbClr val="0072BC"/>
                          </a:solidFill>
                          <a:latin typeface="Arial Black"/>
                          <a:cs typeface="Segoe UI" panose="020B0502040204020203" pitchFamily="34" charset="0"/>
                        </a:rPr>
                        <a:t>кликнуть на блок + потянуть</a:t>
                      </a:r>
                      <a:endParaRPr lang="ru" sz="2800" b="1" i="0" kern="0" dirty="0">
                        <a:solidFill>
                          <a:srgbClr val="0072BC"/>
                        </a:solidFill>
                        <a:latin typeface="Arial Black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miter lim="800000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600" dirty="0">
                        <a:solidFill>
                          <a:schemeClr val="accent3">
                            <a:lumMod val="75000"/>
                          </a:schemeClr>
                        </a:solidFill>
                        <a:latin typeface="Franklin Gothic Book" panose="020B050302010202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miter lim="800000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2000" dirty="0">
                        <a:solidFill>
                          <a:schemeClr val="accent3">
                            <a:lumMod val="75000"/>
                          </a:schemeClr>
                        </a:solidFill>
                        <a:latin typeface="Franklin Gothic Book" panose="020B050302010202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miter lim="800000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000" dirty="0">
                          <a:solidFill>
                            <a:schemeClr val="accent3">
                              <a:lumMod val="75000"/>
                            </a:schemeClr>
                          </a:solidFill>
                          <a:latin typeface="Franklin Gothic Book" panose="020B0503020102020204" pitchFamily="34" charset="0"/>
                        </a:rPr>
                        <a:t>дублировать блок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miter lim="800000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93516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23092298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Другая 1">
      <a:dk1>
        <a:srgbClr val="0072BC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Другая 1">
      <a:majorFont>
        <a:latin typeface="Arial Black"/>
        <a:ea typeface=""/>
        <a:cs typeface=""/>
      </a:majorFont>
      <a:minorFont>
        <a:latin typeface="Franklin Gothic Book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136</TotalTime>
  <Words>334</Words>
  <Application>Microsoft Office PowerPoint</Application>
  <PresentationFormat>Широкоэкранный</PresentationFormat>
  <Paragraphs>76</Paragraphs>
  <Slides>9</Slides>
  <Notes>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6" baseType="lpstr">
      <vt:lpstr>Arial</vt:lpstr>
      <vt:lpstr>Arial Black</vt:lpstr>
      <vt:lpstr>Calibri</vt:lpstr>
      <vt:lpstr>Cambria Math</vt:lpstr>
      <vt:lpstr>Franklin Gothic Book</vt:lpstr>
      <vt:lpstr>Segoe UI</vt:lpstr>
      <vt:lpstr>Тема Office</vt:lpstr>
      <vt:lpstr>КУРС «SIMULINK»</vt:lpstr>
      <vt:lpstr>КЛАССИЧЕСКАЯ ЗАДАЧА</vt:lpstr>
      <vt:lpstr>ПЛАН ЗАНЯТИЯ</vt:lpstr>
      <vt:lpstr>МОДЕЛЬ ОБРАТНОГО МАЯТНИКА</vt:lpstr>
      <vt:lpstr>УРАВНЕНИЕ ДВИЖЕНИЯ</vt:lpstr>
      <vt:lpstr>PID-РЕГУЛЯТОР</vt:lpstr>
      <vt:lpstr>PID-РЕГУЛЯТОР</vt:lpstr>
      <vt:lpstr>ЗАДАЧИ</vt:lpstr>
      <vt:lpstr>ПОЛЕЗНЫЕ КОМБИНАЦИИ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Анастасия Мершавка</dc:creator>
  <cp:lastModifiedBy>Анастасия Мершавка</cp:lastModifiedBy>
  <cp:revision>33</cp:revision>
  <dcterms:created xsi:type="dcterms:W3CDTF">2021-04-05T10:03:21Z</dcterms:created>
  <dcterms:modified xsi:type="dcterms:W3CDTF">2021-04-07T12:08:54Z</dcterms:modified>
</cp:coreProperties>
</file>