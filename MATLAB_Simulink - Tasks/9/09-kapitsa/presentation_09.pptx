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70" r:id="rId3"/>
    <p:sldId id="309" r:id="rId4"/>
    <p:sldId id="290" r:id="rId5"/>
    <p:sldId id="310" r:id="rId6"/>
    <p:sldId id="312" r:id="rId7"/>
    <p:sldId id="259" r:id="rId8"/>
    <p:sldId id="271" r:id="rId9"/>
    <p:sldId id="307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ьный слайд" id="{8CEB8509-C761-4F86-B7FA-7BE02132F55A}">
          <p14:sldIdLst>
            <p14:sldId id="256"/>
            <p14:sldId id="270"/>
            <p14:sldId id="309"/>
            <p14:sldId id="290"/>
            <p14:sldId id="310"/>
            <p14:sldId id="312"/>
            <p14:sldId id="259"/>
            <p14:sldId id="271"/>
            <p14:sldId id="3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настасия Мершавка" initials="АМ" lastIdx="1" clrIdx="0">
    <p:extLst>
      <p:ext uri="{19B8F6BF-5375-455C-9EA6-DF929625EA0E}">
        <p15:presenceInfo xmlns:p15="http://schemas.microsoft.com/office/powerpoint/2012/main" userId="ceee6f035436075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252"/>
    <a:srgbClr val="92C5EB"/>
    <a:srgbClr val="0072BC"/>
    <a:srgbClr val="7C7C7C"/>
    <a:srgbClr val="FFAB40"/>
    <a:srgbClr val="D5E8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E6D549-34D0-422F-BFFF-15782A62CC41}" v="1605" dt="2020-06-22T12:29:13.9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9"/>
  </p:normalViewPr>
  <p:slideViewPr>
    <p:cSldViewPr snapToGrid="0">
      <p:cViewPr varScale="1">
        <p:scale>
          <a:sx n="120" d="100"/>
          <a:sy n="120" d="100"/>
        </p:scale>
        <p:origin x="514" y="7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3EEBA5-02AC-4B42-A6E3-C428E535723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198E84B-65BA-4F9D-BAF8-5F04BA32FAC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2400" dirty="0">
              <a:solidFill>
                <a:srgbClr val="525252"/>
              </a:solidFill>
              <a:latin typeface="Franklin Gothic Book" panose="020B0503020102020204" pitchFamily="34" charset="0"/>
            </a:rPr>
            <a:t>Краткая теоретическая справка, обсуждение математической модели маятника</a:t>
          </a:r>
        </a:p>
      </dgm:t>
    </dgm:pt>
    <dgm:pt modelId="{655DE470-E12F-489C-9292-3D8D9755015E}" type="parTrans" cxnId="{947E7D01-C5A7-4510-9040-87973D4E14E3}">
      <dgm:prSet/>
      <dgm:spPr/>
      <dgm:t>
        <a:bodyPr/>
        <a:lstStyle/>
        <a:p>
          <a:pPr algn="l"/>
          <a:endParaRPr lang="en-US" sz="2400">
            <a:solidFill>
              <a:srgbClr val="525252"/>
            </a:solidFill>
            <a:latin typeface="Franklin Gothic Book" panose="020B0503020102020204" pitchFamily="34" charset="0"/>
          </a:endParaRPr>
        </a:p>
      </dgm:t>
    </dgm:pt>
    <dgm:pt modelId="{53F023EE-EE82-4F1B-8FBE-CF23CF4D6CEB}" type="sibTrans" cxnId="{947E7D01-C5A7-4510-9040-87973D4E14E3}">
      <dgm:prSet/>
      <dgm:spPr/>
      <dgm:t>
        <a:bodyPr/>
        <a:lstStyle/>
        <a:p>
          <a:pPr algn="l"/>
          <a:endParaRPr lang="en-US" sz="2400">
            <a:solidFill>
              <a:srgbClr val="525252"/>
            </a:solidFill>
            <a:latin typeface="Franklin Gothic Book" panose="020B0503020102020204" pitchFamily="34" charset="0"/>
          </a:endParaRPr>
        </a:p>
      </dgm:t>
    </dgm:pt>
    <dgm:pt modelId="{1FB7BD05-324B-4B24-939B-6510D216842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2400" dirty="0">
              <a:solidFill>
                <a:srgbClr val="525252"/>
              </a:solidFill>
              <a:latin typeface="Franklin Gothic Book" panose="020B0503020102020204" pitchFamily="34" charset="0"/>
            </a:rPr>
            <a:t>Самостоятельное построение модели маятника и исследование видов его  движения</a:t>
          </a:r>
        </a:p>
      </dgm:t>
    </dgm:pt>
    <dgm:pt modelId="{859CD8B6-38EE-43EA-AD30-7E9330910A32}" type="parTrans" cxnId="{DB3EB404-5506-4001-B06C-86CB236782F4}">
      <dgm:prSet/>
      <dgm:spPr/>
      <dgm:t>
        <a:bodyPr/>
        <a:lstStyle/>
        <a:p>
          <a:pPr algn="l"/>
          <a:endParaRPr lang="en-US" sz="2400">
            <a:solidFill>
              <a:srgbClr val="525252"/>
            </a:solidFill>
            <a:latin typeface="Franklin Gothic Book" panose="020B0503020102020204" pitchFamily="34" charset="0"/>
          </a:endParaRPr>
        </a:p>
      </dgm:t>
    </dgm:pt>
    <dgm:pt modelId="{7510A7B3-6AD6-4FBA-A0D5-C902E97D57E7}" type="sibTrans" cxnId="{DB3EB404-5506-4001-B06C-86CB236782F4}">
      <dgm:prSet/>
      <dgm:spPr/>
      <dgm:t>
        <a:bodyPr/>
        <a:lstStyle/>
        <a:p>
          <a:pPr algn="l"/>
          <a:endParaRPr lang="en-US" sz="2400">
            <a:solidFill>
              <a:srgbClr val="525252"/>
            </a:solidFill>
            <a:latin typeface="Franklin Gothic Book" panose="020B0503020102020204" pitchFamily="34" charset="0"/>
          </a:endParaRPr>
        </a:p>
      </dgm:t>
    </dgm:pt>
    <dgm:pt modelId="{E5A0F9C7-C3C7-4194-BAF5-CE683BC41C6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2400" dirty="0">
              <a:solidFill>
                <a:srgbClr val="525252"/>
              </a:solidFill>
              <a:latin typeface="Franklin Gothic Book" panose="020B0503020102020204" pitchFamily="34" charset="0"/>
            </a:rPr>
            <a:t>Рассмотрение инструментов исследования модели, знакомство с новыми блоками и функциями</a:t>
          </a:r>
        </a:p>
      </dgm:t>
    </dgm:pt>
    <dgm:pt modelId="{1E3D03D8-38FD-40FD-93F9-5587B2E6B9E6}" type="parTrans" cxnId="{64D89B6B-0727-45F0-94FB-E0913294F0DE}">
      <dgm:prSet/>
      <dgm:spPr/>
      <dgm:t>
        <a:bodyPr/>
        <a:lstStyle/>
        <a:p>
          <a:pPr algn="l"/>
          <a:endParaRPr lang="en-US" sz="2400">
            <a:solidFill>
              <a:srgbClr val="525252"/>
            </a:solidFill>
            <a:latin typeface="Franklin Gothic Book" panose="020B0503020102020204" pitchFamily="34" charset="0"/>
          </a:endParaRPr>
        </a:p>
      </dgm:t>
    </dgm:pt>
    <dgm:pt modelId="{BA0CEAAF-E3CB-4E09-917C-5AD9DE55A11A}" type="sibTrans" cxnId="{64D89B6B-0727-45F0-94FB-E0913294F0DE}">
      <dgm:prSet/>
      <dgm:spPr/>
      <dgm:t>
        <a:bodyPr/>
        <a:lstStyle/>
        <a:p>
          <a:pPr algn="l"/>
          <a:endParaRPr lang="en-US" sz="2400">
            <a:solidFill>
              <a:srgbClr val="525252"/>
            </a:solidFill>
            <a:latin typeface="Franklin Gothic Book" panose="020B0503020102020204" pitchFamily="34" charset="0"/>
          </a:endParaRPr>
        </a:p>
      </dgm:t>
    </dgm:pt>
    <dgm:pt modelId="{ECB99DE4-2D87-2140-B647-B98CDA19330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2400" dirty="0">
              <a:solidFill>
                <a:srgbClr val="525252"/>
              </a:solidFill>
              <a:latin typeface="Franklin Gothic Book" panose="020B0503020102020204" pitchFamily="34" charset="0"/>
            </a:rPr>
            <a:t>Постановка</a:t>
          </a:r>
          <a:r>
            <a:rPr lang="ru-RU" sz="2400" dirty="0">
              <a:latin typeface="Franklin Gothic Book" panose="020B0503020102020204" pitchFamily="34" charset="0"/>
            </a:rPr>
            <a:t> </a:t>
          </a:r>
          <a:r>
            <a:rPr lang="ru-RU" sz="2400" dirty="0">
              <a:solidFill>
                <a:srgbClr val="525252"/>
              </a:solidFill>
              <a:latin typeface="Franklin Gothic Book" panose="020B0503020102020204" pitchFamily="34" charset="0"/>
            </a:rPr>
            <a:t>задачи</a:t>
          </a:r>
        </a:p>
      </dgm:t>
    </dgm:pt>
    <dgm:pt modelId="{FB1DAED2-9CBB-4D4E-B56B-C6756992F232}" type="parTrans" cxnId="{11799D47-675F-F941-A387-ACB67FC512C0}">
      <dgm:prSet/>
      <dgm:spPr/>
      <dgm:t>
        <a:bodyPr/>
        <a:lstStyle/>
        <a:p>
          <a:endParaRPr lang="ru-RU" sz="2400"/>
        </a:p>
      </dgm:t>
    </dgm:pt>
    <dgm:pt modelId="{CD3F9826-F61A-1A48-8263-0A3722479560}" type="sibTrans" cxnId="{11799D47-675F-F941-A387-ACB67FC512C0}">
      <dgm:prSet/>
      <dgm:spPr/>
      <dgm:t>
        <a:bodyPr/>
        <a:lstStyle/>
        <a:p>
          <a:endParaRPr lang="ru-RU" sz="2400"/>
        </a:p>
      </dgm:t>
    </dgm:pt>
    <dgm:pt modelId="{48DA8B59-9C0F-4799-B3D9-6DFA18686797}" type="pres">
      <dgm:prSet presAssocID="{A93EEBA5-02AC-4B42-A6E3-C428E5357231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9702A26-B008-4218-BEEE-C9822E6C8C9B}" type="pres">
      <dgm:prSet presAssocID="{3198E84B-65BA-4F9D-BAF8-5F04BA32FACD}" presName="compNode" presStyleCnt="0"/>
      <dgm:spPr/>
    </dgm:pt>
    <dgm:pt modelId="{42553248-2963-495C-A4BE-D1310B1D52A6}" type="pres">
      <dgm:prSet presAssocID="{3198E84B-65BA-4F9D-BAF8-5F04BA32FACD}" presName="bgRect" presStyleLbl="bgShp" presStyleIdx="0" presStyleCnt="4"/>
      <dgm:spPr/>
    </dgm:pt>
    <dgm:pt modelId="{D033368A-DB94-4770-993B-727234F91ACE}" type="pres">
      <dgm:prSet presAssocID="{3198E84B-65BA-4F9D-BAF8-5F04BA32FAC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хема контур"/>
        </a:ext>
      </dgm:extLst>
    </dgm:pt>
    <dgm:pt modelId="{FE6C3FB7-9D69-408A-A850-3E3F7C8C0F9A}" type="pres">
      <dgm:prSet presAssocID="{3198E84B-65BA-4F9D-BAF8-5F04BA32FACD}" presName="spaceRect" presStyleCnt="0"/>
      <dgm:spPr/>
    </dgm:pt>
    <dgm:pt modelId="{52C95970-9B71-4212-BE39-0710160D0E54}" type="pres">
      <dgm:prSet presAssocID="{3198E84B-65BA-4F9D-BAF8-5F04BA32FACD}" presName="parTx" presStyleLbl="revTx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D1BC032C-81F1-447C-845D-A31D440040A3}" type="pres">
      <dgm:prSet presAssocID="{53F023EE-EE82-4F1B-8FBE-CF23CF4D6CEB}" presName="sibTrans" presStyleCnt="0"/>
      <dgm:spPr/>
    </dgm:pt>
    <dgm:pt modelId="{4315D227-F171-EC4B-81E0-0C0A3DCEAFAA}" type="pres">
      <dgm:prSet presAssocID="{ECB99DE4-2D87-2140-B647-B98CDA193301}" presName="compNode" presStyleCnt="0"/>
      <dgm:spPr/>
    </dgm:pt>
    <dgm:pt modelId="{91E6B908-23A5-6B4F-A7E5-5416424FD560}" type="pres">
      <dgm:prSet presAssocID="{ECB99DE4-2D87-2140-B647-B98CDA193301}" presName="bgRect" presStyleLbl="bgShp" presStyleIdx="1" presStyleCnt="4"/>
      <dgm:spPr/>
    </dgm:pt>
    <dgm:pt modelId="{684528F1-5DBF-CE4C-8578-2C9CBC5B1FC6}" type="pres">
      <dgm:prSet presAssocID="{ECB99DE4-2D87-2140-B647-B98CDA19330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Головоломка контур"/>
        </a:ext>
      </dgm:extLst>
    </dgm:pt>
    <dgm:pt modelId="{026D36D9-85FE-B74A-8983-F75544C40223}" type="pres">
      <dgm:prSet presAssocID="{ECB99DE4-2D87-2140-B647-B98CDA193301}" presName="spaceRect" presStyleCnt="0"/>
      <dgm:spPr/>
    </dgm:pt>
    <dgm:pt modelId="{63FC43D0-7FAC-4C41-8037-D6209D03E677}" type="pres">
      <dgm:prSet presAssocID="{ECB99DE4-2D87-2140-B647-B98CDA193301}" presName="parTx" presStyleLbl="revTx" presStyleIdx="1" presStyleCnt="4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0AB81BE2-6B23-EC42-815B-D38B05A80472}" type="pres">
      <dgm:prSet presAssocID="{CD3F9826-F61A-1A48-8263-0A3722479560}" presName="sibTrans" presStyleCnt="0"/>
      <dgm:spPr/>
    </dgm:pt>
    <dgm:pt modelId="{59CD78EF-DAAA-40C6-99ED-3E2A2EA8B8D5}" type="pres">
      <dgm:prSet presAssocID="{E5A0F9C7-C3C7-4194-BAF5-CE683BC41C6A}" presName="compNode" presStyleCnt="0"/>
      <dgm:spPr/>
    </dgm:pt>
    <dgm:pt modelId="{222886E3-95FC-4FA2-BD98-DD1AC9328C69}" type="pres">
      <dgm:prSet presAssocID="{E5A0F9C7-C3C7-4194-BAF5-CE683BC41C6A}" presName="bgRect" presStyleLbl="bgShp" presStyleIdx="2" presStyleCnt="4"/>
      <dgm:spPr/>
    </dgm:pt>
    <dgm:pt modelId="{7344817A-B50F-4407-98F3-A00C5415E9F9}" type="pres">
      <dgm:prSet presAssocID="{E5A0F9C7-C3C7-4194-BAF5-CE683BC41C6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Жук под увеличительным стеклом контур"/>
        </a:ext>
      </dgm:extLst>
    </dgm:pt>
    <dgm:pt modelId="{B2C96E10-4317-41F7-9949-66F46D469A1B}" type="pres">
      <dgm:prSet presAssocID="{E5A0F9C7-C3C7-4194-BAF5-CE683BC41C6A}" presName="spaceRect" presStyleCnt="0"/>
      <dgm:spPr/>
    </dgm:pt>
    <dgm:pt modelId="{979939CE-033D-41C9-A067-E02544E43F47}" type="pres">
      <dgm:prSet presAssocID="{E5A0F9C7-C3C7-4194-BAF5-CE683BC41C6A}" presName="parTx" presStyleLbl="revTx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6F33DA33-0931-48C0-ABA0-8F3C61692CD4}" type="pres">
      <dgm:prSet presAssocID="{BA0CEAAF-E3CB-4E09-917C-5AD9DE55A11A}" presName="sibTrans" presStyleCnt="0"/>
      <dgm:spPr/>
    </dgm:pt>
    <dgm:pt modelId="{80DA252E-D3AC-460A-95AC-E96F7FF52200}" type="pres">
      <dgm:prSet presAssocID="{1FB7BD05-324B-4B24-939B-6510D2168420}" presName="compNode" presStyleCnt="0"/>
      <dgm:spPr/>
    </dgm:pt>
    <dgm:pt modelId="{200AB39E-B6A3-4177-BB11-A574DE99197B}" type="pres">
      <dgm:prSet presAssocID="{1FB7BD05-324B-4B24-939B-6510D2168420}" presName="bgRect" presStyleLbl="bgShp" presStyleIdx="3" presStyleCnt="4"/>
      <dgm:spPr/>
    </dgm:pt>
    <dgm:pt modelId="{4F539DBA-F720-4FCA-B8F1-82F9F23C0DD8}" type="pres">
      <dgm:prSet presAssocID="{1FB7BD05-324B-4B24-939B-6510D2168420}" presName="iconRect" presStyleLbl="node1" presStyleIdx="3" presStyleCnt="4" custLinFactNeighborX="-120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редложение и спрос контур"/>
        </a:ext>
      </dgm:extLst>
    </dgm:pt>
    <dgm:pt modelId="{8A4C8907-C106-4906-A3D3-E09417DA0D7B}" type="pres">
      <dgm:prSet presAssocID="{1FB7BD05-324B-4B24-939B-6510D2168420}" presName="spaceRect" presStyleCnt="0"/>
      <dgm:spPr/>
    </dgm:pt>
    <dgm:pt modelId="{7041CFF1-2E8F-4470-BDEB-E54EC1EDCDE9}" type="pres">
      <dgm:prSet presAssocID="{1FB7BD05-324B-4B24-939B-6510D2168420}" presName="parTx" presStyleLbl="revTx" presStyleIdx="3" presStyleCnt="4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</dgm:ptLst>
  <dgm:cxnLst>
    <dgm:cxn modelId="{68879C12-FC68-CA44-AA77-911AF82E3B3F}" type="presOf" srcId="{ECB99DE4-2D87-2140-B647-B98CDA193301}" destId="{63FC43D0-7FAC-4C41-8037-D6209D03E677}" srcOrd="0" destOrd="0" presId="urn:microsoft.com/office/officeart/2018/2/layout/IconVerticalSolidList"/>
    <dgm:cxn modelId="{947E7D01-C5A7-4510-9040-87973D4E14E3}" srcId="{A93EEBA5-02AC-4B42-A6E3-C428E5357231}" destId="{3198E84B-65BA-4F9D-BAF8-5F04BA32FACD}" srcOrd="0" destOrd="0" parTransId="{655DE470-E12F-489C-9292-3D8D9755015E}" sibTransId="{53F023EE-EE82-4F1B-8FBE-CF23CF4D6CEB}"/>
    <dgm:cxn modelId="{11799D47-675F-F941-A387-ACB67FC512C0}" srcId="{A93EEBA5-02AC-4B42-A6E3-C428E5357231}" destId="{ECB99DE4-2D87-2140-B647-B98CDA193301}" srcOrd="1" destOrd="0" parTransId="{FB1DAED2-9CBB-4D4E-B56B-C6756992F232}" sibTransId="{CD3F9826-F61A-1A48-8263-0A3722479560}"/>
    <dgm:cxn modelId="{C8383402-17A1-4525-A34F-BCD1BE2CF7F3}" type="presOf" srcId="{E5A0F9C7-C3C7-4194-BAF5-CE683BC41C6A}" destId="{979939CE-033D-41C9-A067-E02544E43F47}" srcOrd="0" destOrd="0" presId="urn:microsoft.com/office/officeart/2018/2/layout/IconVerticalSolidList"/>
    <dgm:cxn modelId="{9F9EC926-B839-4C23-A93A-C45BF81EC6CB}" type="presOf" srcId="{A93EEBA5-02AC-4B42-A6E3-C428E5357231}" destId="{48DA8B59-9C0F-4799-B3D9-6DFA18686797}" srcOrd="0" destOrd="0" presId="urn:microsoft.com/office/officeart/2018/2/layout/IconVerticalSolidList"/>
    <dgm:cxn modelId="{C8380554-7391-4C07-A941-3B0306BCBD0A}" type="presOf" srcId="{1FB7BD05-324B-4B24-939B-6510D2168420}" destId="{7041CFF1-2E8F-4470-BDEB-E54EC1EDCDE9}" srcOrd="0" destOrd="0" presId="urn:microsoft.com/office/officeart/2018/2/layout/IconVerticalSolidList"/>
    <dgm:cxn modelId="{DB3EB404-5506-4001-B06C-86CB236782F4}" srcId="{A93EEBA5-02AC-4B42-A6E3-C428E5357231}" destId="{1FB7BD05-324B-4B24-939B-6510D2168420}" srcOrd="3" destOrd="0" parTransId="{859CD8B6-38EE-43EA-AD30-7E9330910A32}" sibTransId="{7510A7B3-6AD6-4FBA-A0D5-C902E97D57E7}"/>
    <dgm:cxn modelId="{64D89B6B-0727-45F0-94FB-E0913294F0DE}" srcId="{A93EEBA5-02AC-4B42-A6E3-C428E5357231}" destId="{E5A0F9C7-C3C7-4194-BAF5-CE683BC41C6A}" srcOrd="2" destOrd="0" parTransId="{1E3D03D8-38FD-40FD-93F9-5587B2E6B9E6}" sibTransId="{BA0CEAAF-E3CB-4E09-917C-5AD9DE55A11A}"/>
    <dgm:cxn modelId="{15727F5E-D594-4DAF-BCE9-2F7AB3EC8E69}" type="presOf" srcId="{3198E84B-65BA-4F9D-BAF8-5F04BA32FACD}" destId="{52C95970-9B71-4212-BE39-0710160D0E54}" srcOrd="0" destOrd="0" presId="urn:microsoft.com/office/officeart/2018/2/layout/IconVerticalSolidList"/>
    <dgm:cxn modelId="{0701EE27-4D73-4370-ADE4-37C514412E95}" type="presParOf" srcId="{48DA8B59-9C0F-4799-B3D9-6DFA18686797}" destId="{19702A26-B008-4218-BEEE-C9822E6C8C9B}" srcOrd="0" destOrd="0" presId="urn:microsoft.com/office/officeart/2018/2/layout/IconVerticalSolidList"/>
    <dgm:cxn modelId="{742693EC-2D9E-4E55-8A62-041C1449914C}" type="presParOf" srcId="{19702A26-B008-4218-BEEE-C9822E6C8C9B}" destId="{42553248-2963-495C-A4BE-D1310B1D52A6}" srcOrd="0" destOrd="0" presId="urn:microsoft.com/office/officeart/2018/2/layout/IconVerticalSolidList"/>
    <dgm:cxn modelId="{74858ED2-D1EA-4634-A583-D981AC58E70B}" type="presParOf" srcId="{19702A26-B008-4218-BEEE-C9822E6C8C9B}" destId="{D033368A-DB94-4770-993B-727234F91ACE}" srcOrd="1" destOrd="0" presId="urn:microsoft.com/office/officeart/2018/2/layout/IconVerticalSolidList"/>
    <dgm:cxn modelId="{05ACC90F-6A45-406B-8B5C-FCB968933863}" type="presParOf" srcId="{19702A26-B008-4218-BEEE-C9822E6C8C9B}" destId="{FE6C3FB7-9D69-408A-A850-3E3F7C8C0F9A}" srcOrd="2" destOrd="0" presId="urn:microsoft.com/office/officeart/2018/2/layout/IconVerticalSolidList"/>
    <dgm:cxn modelId="{827D28AB-6F80-4CA5-A2A2-E555FF620923}" type="presParOf" srcId="{19702A26-B008-4218-BEEE-C9822E6C8C9B}" destId="{52C95970-9B71-4212-BE39-0710160D0E54}" srcOrd="3" destOrd="0" presId="urn:microsoft.com/office/officeart/2018/2/layout/IconVerticalSolidList"/>
    <dgm:cxn modelId="{7F76F58D-0FDE-40CA-AA24-95F7008BD639}" type="presParOf" srcId="{48DA8B59-9C0F-4799-B3D9-6DFA18686797}" destId="{D1BC032C-81F1-447C-845D-A31D440040A3}" srcOrd="1" destOrd="0" presId="urn:microsoft.com/office/officeart/2018/2/layout/IconVerticalSolidList"/>
    <dgm:cxn modelId="{7FEE2193-BAE8-DE4F-8636-C3A614FE1D32}" type="presParOf" srcId="{48DA8B59-9C0F-4799-B3D9-6DFA18686797}" destId="{4315D227-F171-EC4B-81E0-0C0A3DCEAFAA}" srcOrd="2" destOrd="0" presId="urn:microsoft.com/office/officeart/2018/2/layout/IconVerticalSolidList"/>
    <dgm:cxn modelId="{FAEB7039-01B4-D24A-927C-E86E6C53AE86}" type="presParOf" srcId="{4315D227-F171-EC4B-81E0-0C0A3DCEAFAA}" destId="{91E6B908-23A5-6B4F-A7E5-5416424FD560}" srcOrd="0" destOrd="0" presId="urn:microsoft.com/office/officeart/2018/2/layout/IconVerticalSolidList"/>
    <dgm:cxn modelId="{FB131ED0-1E98-C544-8F09-84B96B934235}" type="presParOf" srcId="{4315D227-F171-EC4B-81E0-0C0A3DCEAFAA}" destId="{684528F1-5DBF-CE4C-8578-2C9CBC5B1FC6}" srcOrd="1" destOrd="0" presId="urn:microsoft.com/office/officeart/2018/2/layout/IconVerticalSolidList"/>
    <dgm:cxn modelId="{975AFBCE-6E28-794F-9940-8AA315715A59}" type="presParOf" srcId="{4315D227-F171-EC4B-81E0-0C0A3DCEAFAA}" destId="{026D36D9-85FE-B74A-8983-F75544C40223}" srcOrd="2" destOrd="0" presId="urn:microsoft.com/office/officeart/2018/2/layout/IconVerticalSolidList"/>
    <dgm:cxn modelId="{4297D41B-3859-C648-9570-A8B7D5EA1161}" type="presParOf" srcId="{4315D227-F171-EC4B-81E0-0C0A3DCEAFAA}" destId="{63FC43D0-7FAC-4C41-8037-D6209D03E677}" srcOrd="3" destOrd="0" presId="urn:microsoft.com/office/officeart/2018/2/layout/IconVerticalSolidList"/>
    <dgm:cxn modelId="{6760FF8A-552D-6641-B35D-7B93C5AAF138}" type="presParOf" srcId="{48DA8B59-9C0F-4799-B3D9-6DFA18686797}" destId="{0AB81BE2-6B23-EC42-815B-D38B05A80472}" srcOrd="3" destOrd="0" presId="urn:microsoft.com/office/officeart/2018/2/layout/IconVerticalSolidList"/>
    <dgm:cxn modelId="{0F4D37DF-A438-413D-9001-A621395F8428}" type="presParOf" srcId="{48DA8B59-9C0F-4799-B3D9-6DFA18686797}" destId="{59CD78EF-DAAA-40C6-99ED-3E2A2EA8B8D5}" srcOrd="4" destOrd="0" presId="urn:microsoft.com/office/officeart/2018/2/layout/IconVerticalSolidList"/>
    <dgm:cxn modelId="{89AEF687-727E-4D5E-B6F3-CEA8D8838145}" type="presParOf" srcId="{59CD78EF-DAAA-40C6-99ED-3E2A2EA8B8D5}" destId="{222886E3-95FC-4FA2-BD98-DD1AC9328C69}" srcOrd="0" destOrd="0" presId="urn:microsoft.com/office/officeart/2018/2/layout/IconVerticalSolidList"/>
    <dgm:cxn modelId="{F62C6B5D-738E-4DBC-A277-F4DED0F9AFB7}" type="presParOf" srcId="{59CD78EF-DAAA-40C6-99ED-3E2A2EA8B8D5}" destId="{7344817A-B50F-4407-98F3-A00C5415E9F9}" srcOrd="1" destOrd="0" presId="urn:microsoft.com/office/officeart/2018/2/layout/IconVerticalSolidList"/>
    <dgm:cxn modelId="{2C2F2A76-5576-4E8D-A79E-F7F4C1FA8149}" type="presParOf" srcId="{59CD78EF-DAAA-40C6-99ED-3E2A2EA8B8D5}" destId="{B2C96E10-4317-41F7-9949-66F46D469A1B}" srcOrd="2" destOrd="0" presId="urn:microsoft.com/office/officeart/2018/2/layout/IconVerticalSolidList"/>
    <dgm:cxn modelId="{E5DB0C11-ED99-4701-9ECC-73BF8DC61E92}" type="presParOf" srcId="{59CD78EF-DAAA-40C6-99ED-3E2A2EA8B8D5}" destId="{979939CE-033D-41C9-A067-E02544E43F47}" srcOrd="3" destOrd="0" presId="urn:microsoft.com/office/officeart/2018/2/layout/IconVerticalSolidList"/>
    <dgm:cxn modelId="{E2E839D8-3000-4FB0-A024-2AB4D0FAB6F6}" type="presParOf" srcId="{48DA8B59-9C0F-4799-B3D9-6DFA18686797}" destId="{6F33DA33-0931-48C0-ABA0-8F3C61692CD4}" srcOrd="5" destOrd="0" presId="urn:microsoft.com/office/officeart/2018/2/layout/IconVerticalSolidList"/>
    <dgm:cxn modelId="{D4399D80-395B-453F-9F75-9F33D34E884F}" type="presParOf" srcId="{48DA8B59-9C0F-4799-B3D9-6DFA18686797}" destId="{80DA252E-D3AC-460A-95AC-E96F7FF52200}" srcOrd="6" destOrd="0" presId="urn:microsoft.com/office/officeart/2018/2/layout/IconVerticalSolidList"/>
    <dgm:cxn modelId="{2A53BCE5-E05E-4052-9EE7-184B4CE5F351}" type="presParOf" srcId="{80DA252E-D3AC-460A-95AC-E96F7FF52200}" destId="{200AB39E-B6A3-4177-BB11-A574DE99197B}" srcOrd="0" destOrd="0" presId="urn:microsoft.com/office/officeart/2018/2/layout/IconVerticalSolidList"/>
    <dgm:cxn modelId="{B259A93C-69C0-4CB1-90E2-FAEC0FDED624}" type="presParOf" srcId="{80DA252E-D3AC-460A-95AC-E96F7FF52200}" destId="{4F539DBA-F720-4FCA-B8F1-82F9F23C0DD8}" srcOrd="1" destOrd="0" presId="urn:microsoft.com/office/officeart/2018/2/layout/IconVerticalSolidList"/>
    <dgm:cxn modelId="{DFD49BFD-3BD4-450A-BD83-9509FD800507}" type="presParOf" srcId="{80DA252E-D3AC-460A-95AC-E96F7FF52200}" destId="{8A4C8907-C106-4906-A3D3-E09417DA0D7B}" srcOrd="2" destOrd="0" presId="urn:microsoft.com/office/officeart/2018/2/layout/IconVerticalSolidList"/>
    <dgm:cxn modelId="{3D9AEBBF-6DD5-4B46-A5EC-8892865A3B45}" type="presParOf" srcId="{80DA252E-D3AC-460A-95AC-E96F7FF52200}" destId="{7041CFF1-2E8F-4470-BDEB-E54EC1EDCD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553248-2963-495C-A4BE-D1310B1D52A6}">
      <dsp:nvSpPr>
        <dsp:cNvPr id="0" name=""/>
        <dsp:cNvSpPr/>
      </dsp:nvSpPr>
      <dsp:spPr>
        <a:xfrm>
          <a:off x="0" y="5570"/>
          <a:ext cx="6757322" cy="12571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33368A-DB94-4770-993B-727234F91ACE}">
      <dsp:nvSpPr>
        <dsp:cNvPr id="0" name=""/>
        <dsp:cNvSpPr/>
      </dsp:nvSpPr>
      <dsp:spPr>
        <a:xfrm>
          <a:off x="380284" y="288426"/>
          <a:ext cx="692101" cy="6914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C95970-9B71-4212-BE39-0710160D0E54}">
      <dsp:nvSpPr>
        <dsp:cNvPr id="0" name=""/>
        <dsp:cNvSpPr/>
      </dsp:nvSpPr>
      <dsp:spPr>
        <a:xfrm>
          <a:off x="1452669" y="5570"/>
          <a:ext cx="5282280" cy="1296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205" tIns="137205" rIns="137205" bIns="137205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>
              <a:solidFill>
                <a:srgbClr val="525252"/>
              </a:solidFill>
              <a:latin typeface="Franklin Gothic Book" panose="020B0503020102020204" pitchFamily="34" charset="0"/>
            </a:rPr>
            <a:t>Краткая теоретическая справка, обсуждение математической модели маятника</a:t>
          </a:r>
        </a:p>
      </dsp:txBody>
      <dsp:txXfrm>
        <a:off x="1452669" y="5570"/>
        <a:ext cx="5282280" cy="1296423"/>
      </dsp:txXfrm>
    </dsp:sp>
    <dsp:sp modelId="{91E6B908-23A5-6B4F-A7E5-5416424FD560}">
      <dsp:nvSpPr>
        <dsp:cNvPr id="0" name=""/>
        <dsp:cNvSpPr/>
      </dsp:nvSpPr>
      <dsp:spPr>
        <a:xfrm>
          <a:off x="0" y="1626099"/>
          <a:ext cx="6757322" cy="12571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4528F1-5DBF-CE4C-8578-2C9CBC5B1FC6}">
      <dsp:nvSpPr>
        <dsp:cNvPr id="0" name=""/>
        <dsp:cNvSpPr/>
      </dsp:nvSpPr>
      <dsp:spPr>
        <a:xfrm>
          <a:off x="380284" y="1908955"/>
          <a:ext cx="692101" cy="6914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C43D0-7FAC-4C41-8037-D6209D03E677}">
      <dsp:nvSpPr>
        <dsp:cNvPr id="0" name=""/>
        <dsp:cNvSpPr/>
      </dsp:nvSpPr>
      <dsp:spPr>
        <a:xfrm>
          <a:off x="1452669" y="1626099"/>
          <a:ext cx="5282280" cy="1296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205" tIns="137205" rIns="137205" bIns="137205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>
              <a:solidFill>
                <a:srgbClr val="525252"/>
              </a:solidFill>
              <a:latin typeface="Franklin Gothic Book" panose="020B0503020102020204" pitchFamily="34" charset="0"/>
            </a:rPr>
            <a:t>Постановка</a:t>
          </a:r>
          <a:r>
            <a:rPr lang="ru-RU" sz="2400" kern="1200" dirty="0">
              <a:latin typeface="Franklin Gothic Book" panose="020B0503020102020204" pitchFamily="34" charset="0"/>
            </a:rPr>
            <a:t> </a:t>
          </a:r>
          <a:r>
            <a:rPr lang="ru-RU" sz="2400" kern="1200" dirty="0">
              <a:solidFill>
                <a:srgbClr val="525252"/>
              </a:solidFill>
              <a:latin typeface="Franklin Gothic Book" panose="020B0503020102020204" pitchFamily="34" charset="0"/>
            </a:rPr>
            <a:t>задачи</a:t>
          </a:r>
        </a:p>
      </dsp:txBody>
      <dsp:txXfrm>
        <a:off x="1452669" y="1626099"/>
        <a:ext cx="5282280" cy="1296423"/>
      </dsp:txXfrm>
    </dsp:sp>
    <dsp:sp modelId="{222886E3-95FC-4FA2-BD98-DD1AC9328C69}">
      <dsp:nvSpPr>
        <dsp:cNvPr id="0" name=""/>
        <dsp:cNvSpPr/>
      </dsp:nvSpPr>
      <dsp:spPr>
        <a:xfrm>
          <a:off x="0" y="3246628"/>
          <a:ext cx="6757322" cy="12571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4817A-B50F-4407-98F3-A00C5415E9F9}">
      <dsp:nvSpPr>
        <dsp:cNvPr id="0" name=""/>
        <dsp:cNvSpPr/>
      </dsp:nvSpPr>
      <dsp:spPr>
        <a:xfrm>
          <a:off x="380284" y="3529484"/>
          <a:ext cx="692101" cy="6914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939CE-033D-41C9-A067-E02544E43F47}">
      <dsp:nvSpPr>
        <dsp:cNvPr id="0" name=""/>
        <dsp:cNvSpPr/>
      </dsp:nvSpPr>
      <dsp:spPr>
        <a:xfrm>
          <a:off x="1452669" y="3246628"/>
          <a:ext cx="5282280" cy="1296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205" tIns="137205" rIns="137205" bIns="137205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>
              <a:solidFill>
                <a:srgbClr val="525252"/>
              </a:solidFill>
              <a:latin typeface="Franklin Gothic Book" panose="020B0503020102020204" pitchFamily="34" charset="0"/>
            </a:rPr>
            <a:t>Рассмотрение инструментов исследования модели, знакомство с новыми блоками и функциями</a:t>
          </a:r>
        </a:p>
      </dsp:txBody>
      <dsp:txXfrm>
        <a:off x="1452669" y="3246628"/>
        <a:ext cx="5282280" cy="1296423"/>
      </dsp:txXfrm>
    </dsp:sp>
    <dsp:sp modelId="{200AB39E-B6A3-4177-BB11-A574DE99197B}">
      <dsp:nvSpPr>
        <dsp:cNvPr id="0" name=""/>
        <dsp:cNvSpPr/>
      </dsp:nvSpPr>
      <dsp:spPr>
        <a:xfrm>
          <a:off x="0" y="4867157"/>
          <a:ext cx="6757322" cy="12571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39DBA-F720-4FCA-B8F1-82F9F23C0DD8}">
      <dsp:nvSpPr>
        <dsp:cNvPr id="0" name=""/>
        <dsp:cNvSpPr/>
      </dsp:nvSpPr>
      <dsp:spPr>
        <a:xfrm>
          <a:off x="379453" y="5150013"/>
          <a:ext cx="692101" cy="6914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1CFF1-2E8F-4470-BDEB-E54EC1EDCDE9}">
      <dsp:nvSpPr>
        <dsp:cNvPr id="0" name=""/>
        <dsp:cNvSpPr/>
      </dsp:nvSpPr>
      <dsp:spPr>
        <a:xfrm>
          <a:off x="1452669" y="4867157"/>
          <a:ext cx="5282280" cy="1296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205" tIns="137205" rIns="137205" bIns="137205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>
              <a:solidFill>
                <a:srgbClr val="525252"/>
              </a:solidFill>
              <a:latin typeface="Franklin Gothic Book" panose="020B0503020102020204" pitchFamily="34" charset="0"/>
            </a:rPr>
            <a:t>Самостоятельное построение модели маятника и исследование видов его  движения</a:t>
          </a:r>
        </a:p>
      </dsp:txBody>
      <dsp:txXfrm>
        <a:off x="1452669" y="4867157"/>
        <a:ext cx="5282280" cy="12964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AF32E-6580-4684-BF4F-45EF9417BA3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32A598-560B-4C72-9CCA-61D5E7796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261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2A598-560B-4C72-9CCA-61D5E7796E0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409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2A598-560B-4C72-9CCA-61D5E7796E0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629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3EF18-B380-45EE-A63B-6BC5D6625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2F94881-C326-4ECA-BB94-F00E75592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88F1B1-68C9-4A34-9768-CED5BD22A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4968-A4E2-4B1D-9835-88E87FAF1360}" type="datetime1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680F73-5E12-456A-8746-0D71D561B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3689B4-1783-4CE3-A66E-51ED1291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562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30C770-F0E1-467F-BB11-8516D770F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88C243-6E49-4727-AB6B-A35F6D032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8E31F4-C3C0-4FA1-ACA9-554861EEA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79CFE-9A66-4027-9367-B7452400F9EE}" type="datetime1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042595-C318-4BE2-A453-A576C3BE6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3DE383-6EB6-4AA7-BA80-5850CC43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540" y="6356349"/>
            <a:ext cx="595411" cy="365125"/>
          </a:xfrm>
        </p:spPr>
        <p:txBody>
          <a:bodyPr/>
          <a:lstStyle>
            <a:lvl1pPr>
              <a:defRPr b="1">
                <a:solidFill>
                  <a:srgbClr val="92C5E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C62BE312-707D-4819-86A2-0940A0EA494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1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55922F-7401-49DA-8333-E1D063556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50DCF4-7DB0-427B-B332-C481166B4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14B5DD-8D07-420E-814F-937423C45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0E290-D08C-4C9A-B567-668164497344}" type="datetime1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0608C8-BD9D-4863-867E-BF6364115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35CAF5-7EC5-4D2A-AA50-4AFBCB56B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1670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D7C275-868B-49DE-8564-71312145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09164F-7FCC-4A19-938C-7CBAB8D3E5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9B4EDC-7E20-4C28-9315-E222D8CFC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770259-CFCA-4294-AE79-63B34D808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45A5-E22E-43E9-B6FD-27BDC87068B7}" type="datetime1">
              <a:rPr lang="ru-RU" smtClean="0"/>
              <a:t>13.11.2024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968424-A07E-48B3-9B63-95CE05EDA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2C6C37-332E-49AF-9E43-1D0BDEDC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229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53169E-AB4F-4B7E-83E2-3C9FF40D0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5AD9D0-A239-43DB-BFF9-70D6C2A4B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DAFD4BC-E084-4CE7-9DEF-9EE4C8D89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9522518-A4D3-4E4D-846F-784DD7A44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77FE907-E655-4782-965D-1F9265F5A2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C0037F5-ECED-4D7D-A7F0-A9B0667A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907C-65F8-4B56-A77A-A579CCC90AD4}" type="datetime1">
              <a:rPr lang="ru-RU" smtClean="0"/>
              <a:t>13.11.2024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D21118-ED0F-4C58-A244-FA490EDB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981119-87DF-4AA4-9D17-54E1D6CCF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446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28B625-DEBC-472E-A868-C9F5E91FD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A7EEEA2-5361-4700-898F-BBB8C42DA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7295A-7A84-4904-BE9A-EE77EA29682C}" type="datetime1">
              <a:rPr lang="ru-RU" smtClean="0"/>
              <a:t>13.11.2024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2B19FBC-6864-4CFB-A951-CB82F828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3FF6757-E21C-49C2-A3C9-F7E3BAFB5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125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7FA8C4-8CAD-4534-B9A2-6DF22ED68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6DDE2-C8E9-477B-8EB5-87024D10A0E5}" type="datetime1">
              <a:rPr lang="ru-RU" smtClean="0"/>
              <a:t>13.11.2024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B6CD6BC-B47E-4AD0-86B7-12CBE7D05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183E3F-D93C-426B-9EE2-25FF44390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24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543D80-091B-4F4A-BC79-E13063256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6E9521-31B2-480D-BC9D-6B10071AF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F93C90-4F85-4B8B-BDB9-0C6317F8E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8FFD67-94AF-411F-B4CC-FA0508AAD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EE96-A647-4CB0-B99B-A559DDCE501C}" type="datetime1">
              <a:rPr lang="ru-RU" smtClean="0"/>
              <a:t>13.11.2024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80F65F-496D-4C93-B7FF-B9D4941D9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6137E4-2861-4B4C-89C6-1D23BF1C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284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B9924-0C67-4EB2-AFEC-5B378D62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514FB7-1BF0-4271-B1EA-39AFB8482B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4AA380-4D67-4E91-832F-A9263A09F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1D8DD-816A-436C-9A31-02A0E8BA7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2076-9763-4EE9-8588-C21379291E38}" type="datetime1">
              <a:rPr lang="ru-RU" smtClean="0"/>
              <a:t>13.11.2024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C07DFE-C391-496F-9AEE-F5BF6F5A6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368047-BCD0-499B-AF37-A9B3791B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094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4FF67-A77C-463E-9F58-74418FD1D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B7A682-4238-4081-B073-2C1391F99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AA5A4D-505C-4112-AA49-E95E7AE52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05C3-C197-4997-958D-8D8A361C5A7D}" type="datetime1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A016E6-4906-477A-8459-1F94C037F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3EE257-8A83-489F-9FFF-6A8DF8D9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45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A2579A-7906-4E58-AEEC-7A1351400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C455D3F-D43E-43E4-8344-E575EDD56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057676-64E3-47CD-B1DD-15D1B78F6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338C-9F00-49E7-B3A8-01E9DA223F53}" type="datetime1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10CBDA-7FE4-4903-9D6C-00EF232C5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23B487-CD14-46A4-8D9E-82013825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370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0F635D-5B86-4D65-8392-2B23869F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D884AA-5C93-45BF-AB5E-FAE393B9F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D5226B-383C-4A71-936E-1B46BDBFE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5FF26-64FC-410E-A9A6-2B951C038432}" type="datetime1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EFF40D-E645-402D-8416-955E03DF2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998F9E-155A-46A7-A79F-C166DEA8F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BE312-707D-4819-86A2-0940A0EA4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27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9B964-D888-42D3-ABC9-027E385FA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5460" y="1148098"/>
            <a:ext cx="10201071" cy="3171699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7200" dirty="0">
                <a:solidFill>
                  <a:srgbClr val="0072BC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КУРС «</a:t>
            </a:r>
            <a:r>
              <a:rPr lang="en-US" sz="7200" dirty="0">
                <a:solidFill>
                  <a:srgbClr val="0072BC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SIMULINK»</a:t>
            </a:r>
            <a:endParaRPr lang="ru-RU" sz="7200" dirty="0">
              <a:solidFill>
                <a:srgbClr val="0072BC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EFA9D8-D69F-4192-B00F-BD202AE2B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867" y="4319797"/>
            <a:ext cx="10992255" cy="224752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3200" dirty="0">
                <a:solidFill>
                  <a:srgbClr val="7C7C7C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Занятие 2</a:t>
            </a:r>
          </a:p>
          <a:p>
            <a:pPr>
              <a:lnSpc>
                <a:spcPct val="110000"/>
              </a:lnSpc>
            </a:pPr>
            <a:r>
              <a:rPr lang="ru-RU" sz="3200" dirty="0">
                <a:solidFill>
                  <a:srgbClr val="7C7C7C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Исследование</a:t>
            </a:r>
            <a:br>
              <a:rPr lang="ru-RU" sz="3200" dirty="0">
                <a:solidFill>
                  <a:srgbClr val="7C7C7C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</a:br>
            <a:r>
              <a:rPr lang="ru-RU" sz="3200" dirty="0">
                <a:solidFill>
                  <a:srgbClr val="7C7C7C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Маятника </a:t>
            </a:r>
            <a:r>
              <a:rPr lang="ru-RU" sz="3200" dirty="0" err="1">
                <a:solidFill>
                  <a:srgbClr val="7C7C7C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Капицы</a:t>
            </a:r>
            <a:endParaRPr lang="ru-RU" sz="3200" dirty="0">
              <a:solidFill>
                <a:srgbClr val="7C7C7C"/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Изображение выглядит как часы&#10;&#10;Автоматически созданное описание">
            <a:extLst>
              <a:ext uri="{FF2B5EF4-FFF2-40B4-BE49-F238E27FC236}">
                <a16:creationId xmlns:a16="http://schemas.microsoft.com/office/drawing/2014/main" id="{0B7971A5-A502-462A-B0E1-C86E0A77761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017" y="290681"/>
            <a:ext cx="2537105" cy="113324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CF42603-A7CF-455F-B5FA-C7DD169B60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67" y="354883"/>
            <a:ext cx="1133240" cy="113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27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>
            <a:extLst>
              <a:ext uri="{FF2B5EF4-FFF2-40B4-BE49-F238E27FC236}">
                <a16:creationId xmlns:a16="http://schemas.microsoft.com/office/drawing/2014/main" id="{D773A8C7-D66B-45D2-BCB5-C4A3A6DA6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882" y="538510"/>
            <a:ext cx="3960779" cy="5827342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4400" dirty="0">
                <a:solidFill>
                  <a:srgbClr val="0072BC"/>
                </a:solidFill>
                <a:latin typeface="Arial Black" panose="020B0A04020102020204" pitchFamily="34" charset="0"/>
              </a:rPr>
              <a:t>ПЛАН</a:t>
            </a:r>
            <a:r>
              <a:rPr lang="ru-RU" sz="4000" dirty="0">
                <a:solidFill>
                  <a:srgbClr val="0072BC"/>
                </a:solidFill>
                <a:latin typeface="Arial Black" panose="020B0A04020102020204" pitchFamily="34" charset="0"/>
              </a:rPr>
              <a:t> </a:t>
            </a:r>
            <a:r>
              <a:rPr lang="ru-RU" sz="4400" dirty="0">
                <a:solidFill>
                  <a:srgbClr val="0072BC"/>
                </a:solidFill>
                <a:latin typeface="Arial Black" panose="020B0A04020102020204" pitchFamily="34" charset="0"/>
              </a:rPr>
              <a:t>ЗАНЯТИЯ</a:t>
            </a:r>
            <a:endParaRPr lang="ru-RU" sz="4000" dirty="0">
              <a:solidFill>
                <a:srgbClr val="0072BC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4" name="Объект 2">
            <a:extLst>
              <a:ext uri="{FF2B5EF4-FFF2-40B4-BE49-F238E27FC236}">
                <a16:creationId xmlns:a16="http://schemas.microsoft.com/office/drawing/2014/main" id="{1F653F0D-562C-4D98-9EA6-642EB0642D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1338232"/>
              </p:ext>
            </p:extLst>
          </p:nvPr>
        </p:nvGraphicFramePr>
        <p:xfrm>
          <a:off x="4544661" y="377952"/>
          <a:ext cx="6757322" cy="6169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E0FEF53-7CA0-4C57-914B-803737AF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4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П. Л. Капица">
            <a:extLst>
              <a:ext uri="{FF2B5EF4-FFF2-40B4-BE49-F238E27FC236}">
                <a16:creationId xmlns:a16="http://schemas.microsoft.com/office/drawing/2014/main" id="{EF41E4FF-CA8D-0642-9E11-F0E3806F4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97" y="2113212"/>
            <a:ext cx="6101797" cy="474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04CBED-35FD-1749-8F96-06567961A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2BC"/>
                </a:solidFill>
                <a:latin typeface="Arial Black" panose="020B0A04020102020204" pitchFamily="34" charset="0"/>
              </a:rPr>
              <a:t>МАЯТНИК КАПИЦЫ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6A047F-75B8-AB43-B0AB-A9155801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40626960-B7B3-CA45-81B3-95C84E77B196}"/>
              </a:ext>
            </a:extLst>
          </p:cNvPr>
          <p:cNvSpPr txBox="1">
            <a:spLocks/>
          </p:cNvSpPr>
          <p:nvPr/>
        </p:nvSpPr>
        <p:spPr>
          <a:xfrm>
            <a:off x="5585740" y="4946966"/>
            <a:ext cx="3328191" cy="778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>
              <a:solidFill>
                <a:schemeClr val="accent3">
                  <a:lumMod val="75000"/>
                </a:schemeClr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2050" name="Picture 2" descr="Маятник Капицы — Википедия">
            <a:extLst>
              <a:ext uri="{FF2B5EF4-FFF2-40B4-BE49-F238E27FC236}">
                <a16:creationId xmlns:a16="http://schemas.microsoft.com/office/drawing/2014/main" id="{B3CA38BE-F01E-C64B-9EF7-6DE7228E0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25" y="101089"/>
            <a:ext cx="42703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hape 56">
            <a:extLst>
              <a:ext uri="{FF2B5EF4-FFF2-40B4-BE49-F238E27FC236}">
                <a16:creationId xmlns:a16="http://schemas.microsoft.com/office/drawing/2014/main" id="{AA1828FC-F605-7B4F-A337-E34C1DCA2C3D}"/>
              </a:ext>
            </a:extLst>
          </p:cNvPr>
          <p:cNvSpPr txBox="1">
            <a:spLocks/>
          </p:cNvSpPr>
          <p:nvPr/>
        </p:nvSpPr>
        <p:spPr>
          <a:xfrm>
            <a:off x="4296019" y="2113212"/>
            <a:ext cx="2728911" cy="778306"/>
          </a:xfrm>
          <a:prstGeom prst="rect">
            <a:avLst/>
          </a:prstGeom>
          <a:noFill/>
          <a:ln>
            <a:noFill/>
          </a:ln>
        </p:spPr>
        <p:txBody>
          <a:bodyPr lIns="120132" tIns="120132" rIns="120132" bIns="120132" anchor="t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r" defTabSz="450525">
              <a:lnSpc>
                <a:spcPts val="5256"/>
              </a:lnSpc>
              <a:buClr>
                <a:srgbClr val="525252"/>
              </a:buClr>
            </a:pPr>
            <a:endParaRPr lang="ru" sz="4800" b="1" kern="0" dirty="0">
              <a:solidFill>
                <a:srgbClr val="92C5EB"/>
              </a:solidFill>
              <a:latin typeface="Arial Black"/>
              <a:cs typeface="Segoe UI" panose="020B0502040204020203" pitchFamily="34" charset="0"/>
            </a:endParaRP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262C968C-18E5-8C4C-8F68-0E772B942D5A}"/>
              </a:ext>
            </a:extLst>
          </p:cNvPr>
          <p:cNvSpPr txBox="1">
            <a:spLocks/>
          </p:cNvSpPr>
          <p:nvPr/>
        </p:nvSpPr>
        <p:spPr>
          <a:xfrm>
            <a:off x="7240466" y="2050679"/>
            <a:ext cx="3327521" cy="778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>
              <a:solidFill>
                <a:schemeClr val="accent3">
                  <a:lumMod val="75000"/>
                </a:schemeClr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9" name="Таблица 11">
            <a:extLst>
              <a:ext uri="{FF2B5EF4-FFF2-40B4-BE49-F238E27FC236}">
                <a16:creationId xmlns:a16="http://schemas.microsoft.com/office/drawing/2014/main" id="{47629BD5-9EF3-C042-879E-8BCCBCEB4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691784"/>
              </p:ext>
            </p:extLst>
          </p:nvPr>
        </p:nvGraphicFramePr>
        <p:xfrm>
          <a:off x="4270377" y="1690688"/>
          <a:ext cx="6253800" cy="2865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6790">
                  <a:extLst>
                    <a:ext uri="{9D8B030D-6E8A-4147-A177-3AD203B41FA5}">
                      <a16:colId xmlns:a16="http://schemas.microsoft.com/office/drawing/2014/main" val="2040006153"/>
                    </a:ext>
                  </a:extLst>
                </a:gridCol>
                <a:gridCol w="3717010">
                  <a:extLst>
                    <a:ext uri="{9D8B030D-6E8A-4147-A177-3AD203B41FA5}">
                      <a16:colId xmlns:a16="http://schemas.microsoft.com/office/drawing/2014/main" val="4013444203"/>
                    </a:ext>
                  </a:extLst>
                </a:gridCol>
              </a:tblGrid>
              <a:tr h="14033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400" b="1" kern="0" dirty="0">
                          <a:solidFill>
                            <a:srgbClr val="92C5EB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1908 г</a:t>
                      </a:r>
                      <a:endParaRPr lang="ru" sz="4400" b="1" kern="0" dirty="0">
                        <a:solidFill>
                          <a:srgbClr val="92C5EB"/>
                        </a:solidFill>
                        <a:latin typeface="Arial Black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Стефенсон наблюдает второе устойчивое положение равновесия у маятника</a:t>
                      </a:r>
                      <a:endParaRPr lang="en-US" sz="2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6899844"/>
                  </a:ext>
                </a:extLst>
              </a:tr>
              <a:tr h="14328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400" b="1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1951 г</a:t>
                      </a:r>
                      <a:endParaRPr lang="ru" sz="4400" b="1" kern="0" dirty="0">
                        <a:solidFill>
                          <a:srgbClr val="0072BC"/>
                        </a:solidFill>
                        <a:latin typeface="Arial Black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Публикация работы «Маятник с вибрирующим подвесом» П.Л. </a:t>
                      </a:r>
                      <a:r>
                        <a:rPr lang="ru-RU" sz="2200" dirty="0" err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Капицы</a:t>
                      </a:r>
                      <a:endParaRPr lang="en-US" sz="2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477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980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698B8A-728D-495B-A343-F14AC930A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360000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72BC"/>
                </a:solidFill>
                <a:latin typeface="Arial Black" panose="020B0A04020102020204" pitchFamily="34" charset="0"/>
              </a:rPr>
              <a:t>МОДЕЛЬ МАЯТНИКА С ВИБРИРУЮЩИМ ПОДВЕСОМ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6749CD2-AEAF-4B35-AC33-F15E8237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pPr/>
              <a:t>4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D860DCAB-A77B-8A4E-BED3-1C07F7D7C6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3205374"/>
                  </p:ext>
                </p:extLst>
              </p:nvPr>
            </p:nvGraphicFramePr>
            <p:xfrm>
              <a:off x="4413955" y="1892175"/>
              <a:ext cx="7778045" cy="4558452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{284E427A-3D55-4303-BF80-6455036E1DE7}</a:tableStyleId>
                  </a:tblPr>
                  <a:tblGrid>
                    <a:gridCol w="869245">
                      <a:extLst>
                        <a:ext uri="{9D8B030D-6E8A-4147-A177-3AD203B41FA5}">
                          <a16:colId xmlns:a16="http://schemas.microsoft.com/office/drawing/2014/main" val="2332697642"/>
                        </a:ext>
                      </a:extLst>
                    </a:gridCol>
                    <a:gridCol w="2680586">
                      <a:extLst>
                        <a:ext uri="{9D8B030D-6E8A-4147-A177-3AD203B41FA5}">
                          <a16:colId xmlns:a16="http://schemas.microsoft.com/office/drawing/2014/main" val="4021918239"/>
                        </a:ext>
                      </a:extLst>
                    </a:gridCol>
                    <a:gridCol w="1180214">
                      <a:extLst>
                        <a:ext uri="{9D8B030D-6E8A-4147-A177-3AD203B41FA5}">
                          <a16:colId xmlns:a16="http://schemas.microsoft.com/office/drawing/2014/main" val="3468887847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4043930319"/>
                        </a:ext>
                      </a:extLst>
                    </a:gridCol>
                  </a:tblGrid>
                  <a:tr h="10905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4800" b="1" i="0" kern="0" dirty="0">
                              <a:solidFill>
                                <a:srgbClr val="0072BC"/>
                              </a:solidFill>
                              <a:latin typeface="Arial Black"/>
                              <a:cs typeface="Segoe UI" panose="020B0502040204020203" pitchFamily="34" charset="0"/>
                            </a:rPr>
                            <a:t>m</a:t>
                          </a:r>
                          <a:endParaRPr lang="ru" sz="4800" b="1" i="0" kern="0" dirty="0">
                            <a:solidFill>
                              <a:srgbClr val="0072BC"/>
                            </a:solidFill>
                            <a:latin typeface="Arial Black"/>
                            <a:cs typeface="Segoe UI" panose="020B0502040204020203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>
                          <a:noFill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Масса грузика</a:t>
                          </a:r>
                          <a:endParaRPr lang="en-US" sz="2400" b="0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Franklin Gothic Book" panose="020B0503020102020204" pitchFamily="3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4400" b="1" i="0" kern="0" dirty="0">
                              <a:solidFill>
                                <a:srgbClr val="92C5EB"/>
                              </a:solidFill>
                              <a:latin typeface="Arial Black" panose="020B0604020202020204" pitchFamily="34" charset="0"/>
                              <a:cs typeface="Arial Black" panose="020B0604020202020204" pitchFamily="34" charset="0"/>
                            </a:rPr>
                            <a:t>θ</a:t>
                          </a:r>
                          <a:endParaRPr lang="ru" sz="4400" b="1" i="0" kern="0" dirty="0">
                            <a:solidFill>
                              <a:srgbClr val="92C5EB"/>
                            </a:solidFill>
                            <a:latin typeface="Arial Black" panose="020B0604020202020204" pitchFamily="34" charset="0"/>
                            <a:cs typeface="Arial Black" panose="020B0604020202020204" pitchFamily="3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Угол отклонения маятника</a:t>
                          </a:r>
                          <a:endParaRPr lang="en-US" sz="2400" b="0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Franklin Gothic Book" panose="020B0503020102020204" pitchFamily="3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8015344"/>
                      </a:ext>
                    </a:extLst>
                  </a:tr>
                  <a:tr h="109050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4800" b="1" i="0" kern="0" dirty="0">
                              <a:solidFill>
                                <a:srgbClr val="92C5EB"/>
                              </a:solidFill>
                              <a:latin typeface="Arial Black"/>
                              <a:cs typeface="Segoe UI" panose="020B0502040204020203" pitchFamily="34" charset="0"/>
                            </a:rPr>
                            <a:t>l</a:t>
                          </a:r>
                          <a:endParaRPr lang="ru-RU" sz="4800" i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Длина легкого стержня</a:t>
                          </a:r>
                          <a:endParaRPr lang="en-US" sz="2400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Franklin Gothic Book" panose="020B05030201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4400" b="1" i="0" kern="0" dirty="0">
                              <a:solidFill>
                                <a:srgbClr val="0072BC"/>
                              </a:solidFill>
                              <a:latin typeface="Arial Black" panose="020B0604020202020204" pitchFamily="34" charset="0"/>
                              <a:cs typeface="Arial Black" panose="020B0604020202020204" pitchFamily="34" charset="0"/>
                            </a:rPr>
                            <a:t>А</a:t>
                          </a:r>
                          <a:endParaRPr lang="ru" sz="4400" b="1" i="0" kern="0" dirty="0">
                            <a:solidFill>
                              <a:srgbClr val="0072BC"/>
                            </a:solidFill>
                            <a:latin typeface="Arial Black" panose="020B0604020202020204" pitchFamily="34" charset="0"/>
                            <a:cs typeface="Arial Black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Амплитуда колебаний подвеса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84450764"/>
                      </a:ext>
                    </a:extLst>
                  </a:tr>
                  <a:tr h="10905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4800" b="1" i="0" kern="0" dirty="0">
                              <a:solidFill>
                                <a:srgbClr val="0072BC"/>
                              </a:solidFill>
                              <a:latin typeface="Arial Black"/>
                              <a:cs typeface="Segoe UI" panose="020B0502040204020203" pitchFamily="34" charset="0"/>
                            </a:rPr>
                            <a:t>g</a:t>
                          </a:r>
                          <a:endParaRPr lang="ru" sz="4800" b="1" i="0" kern="0" dirty="0">
                            <a:solidFill>
                              <a:srgbClr val="0072BC"/>
                            </a:solidFill>
                            <a:latin typeface="Arial Black"/>
                            <a:cs typeface="Segoe UI" panose="020B0502040204020203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Ускорение свободного падения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4800" b="1" i="0" kern="0" dirty="0">
                              <a:solidFill>
                                <a:srgbClr val="92C5EB"/>
                              </a:solidFill>
                              <a:latin typeface="Arial Black" panose="020B0604020202020204" pitchFamily="34" charset="0"/>
                              <a:cs typeface="Arial Black" panose="020B0604020202020204" pitchFamily="34" charset="0"/>
                            </a:rPr>
                            <a:t>𝛚</a:t>
                          </a:r>
                          <a:endParaRPr lang="ru" sz="4800" b="1" i="0" kern="0" dirty="0">
                            <a:solidFill>
                              <a:srgbClr val="92C5EB"/>
                            </a:solidFill>
                            <a:latin typeface="Arial Black" panose="020B0604020202020204" pitchFamily="34" charset="0"/>
                            <a:cs typeface="Arial Black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Частота колебаний подвеса</a:t>
                          </a:r>
                          <a:endParaRPr lang="en-US" sz="2400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Franklin Gothic Book" panose="020B05030201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3737171"/>
                      </a:ext>
                    </a:extLst>
                  </a:tr>
                  <a:tr h="10905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4800" b="1" i="1" smtClean="0">
                                        <a:solidFill>
                                          <a:srgbClr val="0072B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800" b="1" i="0" smtClean="0">
                                        <a:solidFill>
                                          <a:srgbClr val="0072B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𝛚</m:t>
                                    </m:r>
                                  </m:e>
                                  <m:sub>
                                    <m:r>
                                      <a:rPr lang="en-US" sz="4800" b="1" i="0" smtClean="0">
                                        <a:solidFill>
                                          <a:srgbClr val="0072B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" sz="4800" b="1" i="0" kern="0" dirty="0">
                            <a:solidFill>
                              <a:srgbClr val="92C5EB"/>
                            </a:solidFill>
                            <a:latin typeface="Arial Black" panose="020B0604020202020204" pitchFamily="34" charset="0"/>
                            <a:cs typeface="Arial Black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собственная частота колебаний маятника</a:t>
                          </a:r>
                          <a:endParaRPr lang="en-US" sz="2400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Franklin Gothic Book" panose="020B05030201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" sz="4800" b="1" i="0" kern="0" dirty="0">
                            <a:solidFill>
                              <a:srgbClr val="92C5EB"/>
                            </a:solidFill>
                            <a:latin typeface="Arial Black" panose="020B0604020202020204" pitchFamily="34" charset="0"/>
                            <a:cs typeface="Arial Black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Franklin Gothic Book" panose="020B05030201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41964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D860DCAB-A77B-8A4E-BED3-1C07F7D7C6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3205374"/>
                  </p:ext>
                </p:extLst>
              </p:nvPr>
            </p:nvGraphicFramePr>
            <p:xfrm>
              <a:off x="4413955" y="1892175"/>
              <a:ext cx="7778045" cy="4558452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{284E427A-3D55-4303-BF80-6455036E1DE7}</a:tableStyleId>
                  </a:tblPr>
                  <a:tblGrid>
                    <a:gridCol w="869245">
                      <a:extLst>
                        <a:ext uri="{9D8B030D-6E8A-4147-A177-3AD203B41FA5}">
                          <a16:colId xmlns:a16="http://schemas.microsoft.com/office/drawing/2014/main" val="2332697642"/>
                        </a:ext>
                      </a:extLst>
                    </a:gridCol>
                    <a:gridCol w="2680586">
                      <a:extLst>
                        <a:ext uri="{9D8B030D-6E8A-4147-A177-3AD203B41FA5}">
                          <a16:colId xmlns:a16="http://schemas.microsoft.com/office/drawing/2014/main" val="4021918239"/>
                        </a:ext>
                      </a:extLst>
                    </a:gridCol>
                    <a:gridCol w="1180214">
                      <a:extLst>
                        <a:ext uri="{9D8B030D-6E8A-4147-A177-3AD203B41FA5}">
                          <a16:colId xmlns:a16="http://schemas.microsoft.com/office/drawing/2014/main" val="3468887847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4043930319"/>
                        </a:ext>
                      </a:extLst>
                    </a:gridCol>
                  </a:tblGrid>
                  <a:tr h="10905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4800" b="1" i="0" kern="0" dirty="0">
                              <a:solidFill>
                                <a:srgbClr val="0072BC"/>
                              </a:solidFill>
                              <a:latin typeface="Arial Black"/>
                              <a:cs typeface="Segoe UI" panose="020B0502040204020203" pitchFamily="34" charset="0"/>
                            </a:rPr>
                            <a:t>m</a:t>
                          </a:r>
                          <a:endParaRPr lang="ru" sz="4800" b="1" i="0" kern="0" dirty="0">
                            <a:solidFill>
                              <a:srgbClr val="0072BC"/>
                            </a:solidFill>
                            <a:latin typeface="Arial Black"/>
                            <a:cs typeface="Segoe UI" panose="020B0502040204020203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>
                          <a:noFill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Масса грузика</a:t>
                          </a:r>
                          <a:endParaRPr lang="en-US" sz="2400" b="0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Franklin Gothic Book" panose="020B0503020102020204" pitchFamily="3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4400" b="1" i="0" kern="0" dirty="0">
                              <a:solidFill>
                                <a:srgbClr val="92C5EB"/>
                              </a:solidFill>
                              <a:latin typeface="Arial Black" panose="020B0604020202020204" pitchFamily="34" charset="0"/>
                              <a:cs typeface="Arial Black" panose="020B0604020202020204" pitchFamily="34" charset="0"/>
                            </a:rPr>
                            <a:t>θ</a:t>
                          </a:r>
                          <a:endParaRPr lang="ru" sz="4400" b="1" i="0" kern="0" dirty="0">
                            <a:solidFill>
                              <a:srgbClr val="92C5EB"/>
                            </a:solidFill>
                            <a:latin typeface="Arial Black" panose="020B0604020202020204" pitchFamily="34" charset="0"/>
                            <a:cs typeface="Arial Black" panose="020B0604020202020204" pitchFamily="3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Угол отклонения маятника</a:t>
                          </a:r>
                          <a:endParaRPr lang="en-US" sz="2400" b="0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Franklin Gothic Book" panose="020B0503020102020204" pitchFamily="3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8015344"/>
                      </a:ext>
                    </a:extLst>
                  </a:tr>
                  <a:tr h="109050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4800" b="1" i="0" kern="0" dirty="0">
                              <a:solidFill>
                                <a:srgbClr val="92C5EB"/>
                              </a:solidFill>
                              <a:latin typeface="Arial Black"/>
                              <a:cs typeface="Segoe UI" panose="020B0502040204020203" pitchFamily="34" charset="0"/>
                            </a:rPr>
                            <a:t>l</a:t>
                          </a:r>
                          <a:endParaRPr lang="ru-RU" sz="4800" i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Длина легкого стержня</a:t>
                          </a:r>
                          <a:endParaRPr lang="en-US" sz="2400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Franklin Gothic Book" panose="020B05030201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4400" b="1" i="0" kern="0" dirty="0">
                              <a:solidFill>
                                <a:srgbClr val="0072BC"/>
                              </a:solidFill>
                              <a:latin typeface="Arial Black" panose="020B0604020202020204" pitchFamily="34" charset="0"/>
                              <a:cs typeface="Arial Black" panose="020B0604020202020204" pitchFamily="34" charset="0"/>
                            </a:rPr>
                            <a:t>А</a:t>
                          </a:r>
                          <a:endParaRPr lang="ru" sz="4400" b="1" i="0" kern="0" dirty="0">
                            <a:solidFill>
                              <a:srgbClr val="0072BC"/>
                            </a:solidFill>
                            <a:latin typeface="Arial Black" panose="020B0604020202020204" pitchFamily="34" charset="0"/>
                            <a:cs typeface="Arial Black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Амплитуда колебаний подвеса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84450764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4800" b="1" i="0" kern="0" dirty="0">
                              <a:solidFill>
                                <a:srgbClr val="0072BC"/>
                              </a:solidFill>
                              <a:latin typeface="Arial Black"/>
                              <a:cs typeface="Segoe UI" panose="020B0502040204020203" pitchFamily="34" charset="0"/>
                            </a:rPr>
                            <a:t>g</a:t>
                          </a:r>
                          <a:endParaRPr lang="ru" sz="4800" b="1" i="0" kern="0" dirty="0">
                            <a:solidFill>
                              <a:srgbClr val="0072BC"/>
                            </a:solidFill>
                            <a:latin typeface="Arial Black"/>
                            <a:cs typeface="Segoe UI" panose="020B0502040204020203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Ускорение свободного падения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4800" b="1" i="0" kern="0" dirty="0">
                              <a:solidFill>
                                <a:srgbClr val="92C5EB"/>
                              </a:solidFill>
                              <a:latin typeface="Arial Black" panose="020B0604020202020204" pitchFamily="34" charset="0"/>
                              <a:cs typeface="Arial Black" panose="020B0604020202020204" pitchFamily="34" charset="0"/>
                            </a:rPr>
                            <a:t>𝛚</a:t>
                          </a:r>
                          <a:endParaRPr lang="ru" sz="4800" b="1" i="0" kern="0" dirty="0">
                            <a:solidFill>
                              <a:srgbClr val="92C5EB"/>
                            </a:solidFill>
                            <a:latin typeface="Arial Black" panose="020B0604020202020204" pitchFamily="34" charset="0"/>
                            <a:cs typeface="Arial Black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Частота колебаний подвеса</a:t>
                          </a:r>
                          <a:endParaRPr lang="en-US" sz="2400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Franklin Gothic Book" panose="020B05030201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373717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84615" r="-792308" b="-117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собственная частота колебаний маятника</a:t>
                          </a:r>
                          <a:endParaRPr lang="en-US" sz="2400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Franklin Gothic Book" panose="020B05030201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" sz="4800" b="1" i="0" kern="0" dirty="0">
                            <a:solidFill>
                              <a:srgbClr val="92C5EB"/>
                            </a:solidFill>
                            <a:latin typeface="Arial Black" panose="020B0604020202020204" pitchFamily="34" charset="0"/>
                            <a:cs typeface="Arial Black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Franklin Gothic Book" panose="020B05030201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419645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6" name="Picture 2" descr="C:\Users\makarov\AppData\Local\Temp\ConnectorClipboard6408871664045671256\image1731488371203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05" y="2545801"/>
            <a:ext cx="3709120" cy="295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692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E7A5C0D-AE1B-A045-847F-CB559816FB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8000" y="2005011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solidFill>
                      <a:srgbClr val="525252"/>
                    </a:solidFill>
                    <a:latin typeface="Franklin Gothic Book" panose="020B0503020102020204" pitchFamily="34" charset="0"/>
                  </a:rPr>
                  <a:t>Координаты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2B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525252"/>
                    </a:solidFill>
                    <a:latin typeface="Franklin Gothic Book" panose="020B0503020102020204" pitchFamily="34" charset="0"/>
                  </a:rPr>
                  <a:t> </a:t>
                </a:r>
                <a:r>
                  <a:rPr lang="ru-RU" dirty="0">
                    <a:solidFill>
                      <a:srgbClr val="525252"/>
                    </a:solidFill>
                    <a:latin typeface="Franklin Gothic Book" panose="020B0503020102020204" pitchFamily="34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2BC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525252"/>
                    </a:solidFill>
                    <a:latin typeface="Franklin Gothic Book" panose="020B0503020102020204" pitchFamily="34" charset="0"/>
                  </a:rPr>
                  <a:t> </a:t>
                </a:r>
                <a:r>
                  <a:rPr lang="ru-RU" dirty="0">
                    <a:solidFill>
                      <a:srgbClr val="525252"/>
                    </a:solidFill>
                    <a:latin typeface="Franklin Gothic Book" panose="020B0503020102020204" pitchFamily="34" charset="0"/>
                  </a:rPr>
                  <a:t>грузика равны</a:t>
                </a:r>
                <a:endParaRPr lang="ru-RU" i="1" dirty="0">
                  <a:solidFill>
                    <a:srgbClr val="525252"/>
                  </a:solidFill>
                  <a:latin typeface="Franklin Gothic Book" panose="020B05030201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US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func>
                                <m:funcPr>
                                  <m:ctrlPr>
                                    <a:rPr lang="en-US" i="1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  <m:t>&amp;=−</m:t>
                              </m:r>
                              <m:r>
                                <a:rPr lang="en-US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func>
                                <m:funcPr>
                                  <m:ctrlPr>
                                    <a:rPr lang="en-US" i="1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i="1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func>
                                    <m:funcPr>
                                      <m:ctrlPr>
                                        <a:rPr lang="en-US" i="1">
                                          <a:solidFill>
                                            <a:srgbClr val="0072BC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solidFill>
                                            <a:srgbClr val="0072BC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solidFill>
                                            <a:srgbClr val="0072BC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72BC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func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ru-RU" sz="2400" dirty="0">
                  <a:solidFill>
                    <a:srgbClr val="525252"/>
                  </a:solidFill>
                  <a:latin typeface="Franklin Gothic Book" panose="020B05030201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solidFill>
                      <a:srgbClr val="525252"/>
                    </a:solidFill>
                    <a:latin typeface="Franklin Gothic Book" panose="020B0503020102020204" pitchFamily="34" charset="0"/>
                  </a:rPr>
                  <a:t>Потенциальная и кинетическая энергии выражаются как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𝑝𝑜𝑡</m:t>
                          </m:r>
                        </m:sub>
                      </m:sSub>
                      <m:r>
                        <a:rPr lang="en-US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𝑚𝑔𝑦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𝑘𝑖𝑛</m:t>
                          </m:r>
                        </m:sub>
                      </m:sSub>
                      <m:r>
                        <a:rPr lang="en-US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b="0" i="1" smtClean="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полная</m:t>
                          </m:r>
                        </m:sub>
                      </m:sSub>
                      <m:r>
                        <a:rPr lang="en-US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𝑝𝑜𝑡</m:t>
                          </m:r>
                        </m:sub>
                      </m:sSub>
                      <m:r>
                        <a:rPr lang="ru-RU" b="0" i="1" smtClean="0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𝑘𝑖𝑛</m:t>
                          </m:r>
                        </m:sub>
                      </m:sSub>
                    </m:oMath>
                  </m:oMathPara>
                </a14:m>
                <a:endParaRPr lang="ru-RU" sz="2400" dirty="0">
                  <a:solidFill>
                    <a:srgbClr val="525252"/>
                  </a:solidFill>
                  <a:latin typeface="Franklin Gothic Book" panose="020B05030201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E7A5C0D-AE1B-A045-847F-CB559816FB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8000" y="2005011"/>
                <a:ext cx="10515600" cy="4351338"/>
              </a:xfrm>
              <a:blipFill>
                <a:blip r:embed="rId2"/>
                <a:stretch>
                  <a:fillRect l="-1206" t="-32849" b="-119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698B8A-728D-495B-A343-F14AC930A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360000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72BC"/>
                </a:solidFill>
                <a:latin typeface="Arial Black" panose="020B0A04020102020204" pitchFamily="34" charset="0"/>
              </a:rPr>
              <a:t>ЭНЕРГИЯ МАЯТНИКА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6749CD2-AEAF-4B35-AC33-F15E8237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995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E7A5C0D-AE1B-A045-847F-CB559816FB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3200" dirty="0">
                    <a:solidFill>
                      <a:srgbClr val="525252"/>
                    </a:solidFill>
                    <a:latin typeface="Franklin Gothic Book" panose="020B0503020102020204" pitchFamily="34" charset="0"/>
                  </a:rPr>
                  <a:t>Из уравнения Лагранжа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𝑘𝑖𝑛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𝑝𝑜𝑡</m:t>
                          </m:r>
                        </m:sub>
                      </m:sSub>
                    </m:oMath>
                    <m:oMath xmlns:m="http://schemas.openxmlformats.org/officeDocument/2006/math">
                      <m:f>
                        <m:fPr>
                          <m:ctrlP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f>
                        <m:fPr>
                          <m:ctrlP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sz="3200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den>
                      </m:f>
                      <m:r>
                        <a:rPr lang="en-US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</m:oMath>
                  </m:oMathPara>
                </a14:m>
                <a:endParaRPr lang="ru-RU" sz="3200" i="1" dirty="0">
                  <a:solidFill>
                    <a:srgbClr val="525252"/>
                  </a:solidFill>
                  <a:latin typeface="Franklin Gothic Book" panose="020B0503020102020204" pitchFamily="34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3200" dirty="0">
                    <a:solidFill>
                      <a:srgbClr val="525252"/>
                    </a:solidFill>
                    <a:latin typeface="Franklin Gothic Book" panose="020B0503020102020204" pitchFamily="34" charset="0"/>
                  </a:rPr>
                  <a:t>Уравнение движения маятника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acc>
                        <m:accPr>
                          <m:chr m:val="̈"/>
                          <m:ctrlP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b="0" i="1" smtClean="0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acc>
                        <m:accPr>
                          <m:chr m:val="̇"/>
                          <m:ctrlP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ru-RU" sz="3200" b="0" i="1" smtClean="0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𝑚𝑙</m:t>
                      </m:r>
                      <m:d>
                        <m:dPr>
                          <m:ctrlP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n-US" sz="3200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3200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3200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3200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  <m:func>
                        <m:funcPr>
                          <m:ctrlP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3200" dirty="0">
                  <a:solidFill>
                    <a:srgbClr val="0072BC"/>
                  </a:solidFill>
                </a:endParaRPr>
              </a:p>
              <a:p>
                <a:pPr marL="0" indent="0">
                  <a:buNone/>
                </a:pPr>
                <a:endParaRPr lang="ru-RU" sz="3200" i="1" dirty="0">
                  <a:solidFill>
                    <a:srgbClr val="525252"/>
                  </a:solidFill>
                  <a:latin typeface="Franklin Gothic Book" panose="020B0503020102020204" pitchFamily="34" charset="0"/>
                </a:endParaRPr>
              </a:p>
              <a:p>
                <a:pPr marL="0" indent="0">
                  <a:buNone/>
                </a:pPr>
                <a:endParaRPr lang="ru-RU" sz="3200" i="1" dirty="0">
                  <a:solidFill>
                    <a:srgbClr val="525252"/>
                  </a:solidFill>
                  <a:latin typeface="Franklin Gothic Book" panose="020B05030201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E7A5C0D-AE1B-A045-847F-CB559816FB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7" t="-15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698B8A-728D-495B-A343-F14AC930A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360000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72BC"/>
                </a:solidFill>
                <a:latin typeface="Arial Black" panose="020B0A04020102020204" pitchFamily="34" charset="0"/>
              </a:rPr>
              <a:t>УРАВНЕНИЕ ДВИЖЕНИЯ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6749CD2-AEAF-4B35-AC33-F15E8237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092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698B8A-728D-495B-A343-F14AC930A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360000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0072BC"/>
                </a:solidFill>
                <a:latin typeface="Arial Black" panose="020B0A04020102020204" pitchFamily="34" charset="0"/>
              </a:rPr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F6376D-7106-434A-A0C2-715EBB92F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267" y="1572768"/>
            <a:ext cx="10236199" cy="500583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ru-RU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Добавить в модель движение подвеса вдоль оси ординат (ось </a:t>
            </a:r>
            <a:r>
              <a:rPr lang="en-US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Y)</a:t>
            </a:r>
            <a:endParaRPr lang="ru-RU" sz="3600" dirty="0">
              <a:solidFill>
                <a:srgbClr val="525252"/>
              </a:solidFill>
              <a:latin typeface="Franklin Gothic Book" panose="020B0503020102020204" pitchFamily="34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ru-RU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Провести исследование с помощью модели маятника: найти параметры системы, при которых появляется два положения равновесия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ru-RU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Построить в </a:t>
            </a:r>
            <a:r>
              <a:rPr lang="en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MATLAB </a:t>
            </a:r>
            <a:r>
              <a:rPr lang="ru-RU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графики</a:t>
            </a:r>
            <a:r>
              <a:rPr lang="en-US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 </a:t>
            </a:r>
            <a:r>
              <a:rPr lang="ru-RU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фазовых плоскостей </a:t>
            </a:r>
            <a:r>
              <a:rPr lang="en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y</a:t>
            </a:r>
            <a:r>
              <a:rPr lang="ru-RU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(</a:t>
            </a:r>
            <a:r>
              <a:rPr lang="en-US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x</a:t>
            </a:r>
            <a:r>
              <a:rPr lang="en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) </a:t>
            </a:r>
            <a:r>
              <a:rPr lang="ru-RU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и</a:t>
            </a:r>
            <a:r>
              <a:rPr lang="en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 </a:t>
            </a:r>
            <a:r>
              <a:rPr lang="el-GR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θ</a:t>
            </a:r>
            <a:r>
              <a:rPr lang="ru-RU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(</a:t>
            </a:r>
            <a:r>
              <a:rPr lang="en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t)</a:t>
            </a:r>
            <a:r>
              <a:rPr lang="el-GR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 </a:t>
            </a:r>
            <a:r>
              <a:rPr lang="ru-RU" sz="36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для колебаний вокруг верхнего и нижнего положения равновесия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6B3F22D-285D-4725-8B52-2DEE35056648}"/>
              </a:ext>
            </a:extLst>
          </p:cNvPr>
          <p:cNvSpPr/>
          <p:nvPr/>
        </p:nvSpPr>
        <p:spPr>
          <a:xfrm>
            <a:off x="838200" y="1825624"/>
            <a:ext cx="56137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rgbClr val="D5E8F7"/>
                </a:solidFill>
                <a:latin typeface="Arial Black" panose="020B0A04020102020204" pitchFamily="34" charset="0"/>
              </a:rPr>
              <a:t>1</a:t>
            </a:r>
            <a:endParaRPr lang="ru-RU" sz="4400" dirty="0">
              <a:solidFill>
                <a:srgbClr val="D5E8F7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0E4EEE2-DE33-458F-B8A5-4B9D2ACFF5F5}"/>
              </a:ext>
            </a:extLst>
          </p:cNvPr>
          <p:cNvSpPr/>
          <p:nvPr/>
        </p:nvSpPr>
        <p:spPr>
          <a:xfrm>
            <a:off x="838200" y="3306243"/>
            <a:ext cx="56137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rgbClr val="D5E8F7"/>
                </a:solidFill>
                <a:latin typeface="Arial Black" panose="020B0A04020102020204" pitchFamily="34" charset="0"/>
              </a:rPr>
              <a:t>2</a:t>
            </a:r>
            <a:endParaRPr lang="ru-RU" sz="4400" dirty="0">
              <a:solidFill>
                <a:srgbClr val="D5E8F7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8D81049-149B-4CCA-98BE-C68F1D3024D1}"/>
              </a:ext>
            </a:extLst>
          </p:cNvPr>
          <p:cNvSpPr/>
          <p:nvPr/>
        </p:nvSpPr>
        <p:spPr>
          <a:xfrm>
            <a:off x="838200" y="5079354"/>
            <a:ext cx="56137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rgbClr val="D5E8F7"/>
                </a:solidFill>
                <a:latin typeface="Arial Black" panose="020B0A04020102020204" pitchFamily="34" charset="0"/>
              </a:rPr>
              <a:t>3</a:t>
            </a:r>
            <a:endParaRPr lang="ru-RU" sz="4400" dirty="0">
              <a:solidFill>
                <a:srgbClr val="D5E8F7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475CBF-609B-4CBF-8168-26346D702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862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698B8A-728D-495B-A343-F14AC930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2BC"/>
                </a:solidFill>
                <a:latin typeface="Arial Black" panose="020B0A04020102020204" pitchFamily="34" charset="0"/>
              </a:rPr>
              <a:t>САМОСТОЯТЕЛЬНАЯ ДОРАБОТКА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F6376D-7106-434A-A0C2-715EBB92F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10000"/>
              </a:lnSpc>
            </a:pPr>
            <a:r>
              <a:rPr lang="ru-RU" sz="3200" dirty="0" smtClean="0">
                <a:solidFill>
                  <a:srgbClr val="7C7C7C"/>
                </a:solidFill>
                <a:latin typeface="Franklin Gothic Book" panose="020B0503020102020204" pitchFamily="34" charset="0"/>
              </a:rPr>
              <a:t>Добавление </a:t>
            </a:r>
            <a:r>
              <a:rPr lang="ru-RU" sz="3200" dirty="0">
                <a:solidFill>
                  <a:srgbClr val="7C7C7C"/>
                </a:solidFill>
                <a:latin typeface="Franklin Gothic Book" panose="020B0503020102020204" pitchFamily="34" charset="0"/>
              </a:rPr>
              <a:t>в модель движения подвеса по оси Y – </a:t>
            </a:r>
            <a:r>
              <a:rPr lang="en-US" sz="3200" dirty="0" smtClean="0">
                <a:solidFill>
                  <a:srgbClr val="525252"/>
                </a:solidFill>
                <a:latin typeface="Franklin Gothic Book" panose="020B0503020102020204" pitchFamily="34" charset="0"/>
              </a:rPr>
              <a:t>3 </a:t>
            </a:r>
            <a:r>
              <a:rPr lang="ru-RU" sz="3200" dirty="0" smtClean="0">
                <a:solidFill>
                  <a:srgbClr val="525252"/>
                </a:solidFill>
                <a:latin typeface="Franklin Gothic Book" panose="020B0503020102020204" pitchFamily="34" charset="0"/>
              </a:rPr>
              <a:t>балл</a:t>
            </a:r>
            <a:r>
              <a:rPr lang="ru-RU" sz="3200" dirty="0">
                <a:solidFill>
                  <a:srgbClr val="525252"/>
                </a:solidFill>
                <a:latin typeface="Franklin Gothic Book" panose="020B0503020102020204" pitchFamily="34" charset="0"/>
              </a:rPr>
              <a:t>а</a:t>
            </a:r>
            <a:endParaRPr lang="ru-RU" sz="3200" dirty="0">
              <a:solidFill>
                <a:srgbClr val="525252"/>
              </a:solidFill>
              <a:latin typeface="Franklin Gothic Book" panose="020B050302010202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ru-RU" sz="3200" dirty="0">
                <a:solidFill>
                  <a:srgbClr val="7C7C7C"/>
                </a:solidFill>
                <a:latin typeface="Franklin Gothic Book" panose="020B0503020102020204" pitchFamily="34" charset="0"/>
              </a:rPr>
              <a:t>Исследование: нахождение параметров для двух положений равновесия – </a:t>
            </a:r>
            <a:r>
              <a:rPr lang="ru-RU" sz="3200" dirty="0" smtClean="0">
                <a:solidFill>
                  <a:srgbClr val="525252"/>
                </a:solidFill>
                <a:latin typeface="Franklin Gothic Book" panose="020B0503020102020204" pitchFamily="34" charset="0"/>
              </a:rPr>
              <a:t>3 балла</a:t>
            </a:r>
            <a:endParaRPr lang="ru-RU" sz="3200" dirty="0">
              <a:solidFill>
                <a:srgbClr val="525252"/>
              </a:solidFill>
              <a:latin typeface="Franklin Gothic Book" panose="020B050302010202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ru-RU" sz="3200" dirty="0">
                <a:solidFill>
                  <a:srgbClr val="7C7C7C"/>
                </a:solidFill>
                <a:latin typeface="Franklin Gothic Book" panose="020B0503020102020204" pitchFamily="34" charset="0"/>
              </a:rPr>
              <a:t>Построение графика в MATLAB (</a:t>
            </a:r>
            <a:r>
              <a:rPr lang="ru-RU" sz="3200" dirty="0" err="1">
                <a:solidFill>
                  <a:srgbClr val="7C7C7C"/>
                </a:solidFill>
                <a:latin typeface="Franklin Gothic Book" panose="020B0503020102020204" pitchFamily="34" charset="0"/>
              </a:rPr>
              <a:t>x,y</a:t>
            </a:r>
            <a:r>
              <a:rPr lang="ru-RU" sz="3200" dirty="0">
                <a:solidFill>
                  <a:srgbClr val="7C7C7C"/>
                </a:solidFill>
                <a:latin typeface="Franklin Gothic Book" panose="020B0503020102020204" pitchFamily="34" charset="0"/>
              </a:rPr>
              <a:t>) и (</a:t>
            </a:r>
            <a:r>
              <a:rPr lang="ru-RU" sz="3200" dirty="0" err="1">
                <a:solidFill>
                  <a:srgbClr val="7C7C7C"/>
                </a:solidFill>
                <a:latin typeface="Franklin Gothic Book" panose="020B0503020102020204" pitchFamily="34" charset="0"/>
              </a:rPr>
              <a:t>t,θ</a:t>
            </a:r>
            <a:r>
              <a:rPr lang="ru-RU" sz="3200" dirty="0">
                <a:solidFill>
                  <a:srgbClr val="7C7C7C"/>
                </a:solidFill>
                <a:latin typeface="Franklin Gothic Book" panose="020B0503020102020204" pitchFamily="34" charset="0"/>
              </a:rPr>
              <a:t>) при колебаниях вокруг верхнего и нижнего положения равновесия – </a:t>
            </a:r>
            <a:r>
              <a:rPr lang="ru-RU" sz="3200" dirty="0" smtClean="0">
                <a:solidFill>
                  <a:srgbClr val="525252"/>
                </a:solidFill>
                <a:latin typeface="Franklin Gothic Book" panose="020B0503020102020204" pitchFamily="34" charset="0"/>
              </a:rPr>
              <a:t>4 балла</a:t>
            </a:r>
            <a:endParaRPr lang="ru-RU" sz="3200" dirty="0">
              <a:solidFill>
                <a:srgbClr val="525252"/>
              </a:solidFill>
              <a:latin typeface="Franklin Gothic Book" panose="020B050302010202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ru-RU" sz="3200" dirty="0">
                <a:solidFill>
                  <a:srgbClr val="7C7C7C"/>
                </a:solidFill>
                <a:latin typeface="Franklin Gothic Book" panose="020B0503020102020204" pitchFamily="34" charset="0"/>
              </a:rPr>
              <a:t>Модель должна работать и выдавать адекватный результат, который можно увидеть на графиках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C3380D-7682-497B-A882-CA9244C40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35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698B8A-728D-495B-A343-F14AC930A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8129"/>
            <a:ext cx="10515600" cy="1325563"/>
          </a:xfrm>
        </p:spPr>
        <p:txBody>
          <a:bodyPr>
            <a:noAutofit/>
          </a:bodyPr>
          <a:lstStyle/>
          <a:p>
            <a:r>
              <a:rPr lang="ru-RU" sz="4800" dirty="0">
                <a:solidFill>
                  <a:srgbClr val="0072BC"/>
                </a:solidFill>
                <a:latin typeface="Arial Black" panose="020B0A04020102020204" pitchFamily="34" charset="0"/>
              </a:rPr>
              <a:t>ПОЛЕЗНЫЕ КОМБИНАЦИИ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380D27B-4FD2-4A27-A39F-F69F7B3A4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BE312-707D-4819-86A2-0940A0EA4946}" type="slidenum">
              <a:rPr lang="ru-RU" smtClean="0"/>
              <a:pPr/>
              <a:t>9</a:t>
            </a:fld>
            <a:endParaRPr lang="ru-RU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BCF7C77-DD1F-B740-87BD-CDC36660D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433817"/>
              </p:ext>
            </p:extLst>
          </p:nvPr>
        </p:nvGraphicFramePr>
        <p:xfrm>
          <a:off x="838200" y="1743692"/>
          <a:ext cx="10515599" cy="4428720"/>
        </p:xfrm>
        <a:graphic>
          <a:graphicData uri="http://schemas.openxmlformats.org/drawingml/2006/table">
            <a:tbl>
              <a:tblPr firstRow="1" bandRow="1">
                <a:noFill/>
                <a:tableStyleId>{284E427A-3D55-4303-BF80-6455036E1DE7}</a:tableStyleId>
              </a:tblPr>
              <a:tblGrid>
                <a:gridCol w="2468526">
                  <a:extLst>
                    <a:ext uri="{9D8B030D-6E8A-4147-A177-3AD203B41FA5}">
                      <a16:colId xmlns:a16="http://schemas.microsoft.com/office/drawing/2014/main" val="2332697642"/>
                    </a:ext>
                  </a:extLst>
                </a:gridCol>
                <a:gridCol w="2817627">
                  <a:extLst>
                    <a:ext uri="{9D8B030D-6E8A-4147-A177-3AD203B41FA5}">
                      <a16:colId xmlns:a16="http://schemas.microsoft.com/office/drawing/2014/main" val="4021918239"/>
                    </a:ext>
                  </a:extLst>
                </a:gridCol>
                <a:gridCol w="2742314">
                  <a:extLst>
                    <a:ext uri="{9D8B030D-6E8A-4147-A177-3AD203B41FA5}">
                      <a16:colId xmlns:a16="http://schemas.microsoft.com/office/drawing/2014/main" val="3468887847"/>
                    </a:ext>
                  </a:extLst>
                </a:gridCol>
                <a:gridCol w="2487132">
                  <a:extLst>
                    <a:ext uri="{9D8B030D-6E8A-4147-A177-3AD203B41FA5}">
                      <a16:colId xmlns:a16="http://schemas.microsoft.com/office/drawing/2014/main" val="158195758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Space</a:t>
                      </a:r>
                      <a:endParaRPr lang="ru" sz="3600" b="1" i="0" kern="0" dirty="0">
                        <a:solidFill>
                          <a:srgbClr val="0072BC"/>
                        </a:solidFill>
                        <a:latin typeface="Arial Black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отобразить модель на весь экран</a:t>
                      </a:r>
                      <a:endParaRPr lang="en-US" sz="2000" b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3600" b="1" i="0" kern="0" dirty="0">
                          <a:solidFill>
                            <a:srgbClr val="92C5EB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Ctrl + G</a:t>
                      </a:r>
                      <a:endParaRPr lang="ru" sz="3600" b="1" i="0" kern="0" dirty="0">
                        <a:solidFill>
                          <a:srgbClr val="92C5EB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создать подсистему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01534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lang="en-US" sz="3600" b="1" i="0" kern="0" dirty="0">
                          <a:solidFill>
                            <a:srgbClr val="92C5EB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Ctrl + I</a:t>
                      </a:r>
                      <a:endParaRPr lang="ru-RU" sz="3600" i="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отразить блок</a:t>
                      </a:r>
                      <a:endParaRPr lang="en-US" sz="20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3600" b="1" i="0" kern="0" dirty="0">
                          <a:solidFill>
                            <a:srgbClr val="0072BC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Ctrl + M</a:t>
                      </a:r>
                      <a:endParaRPr lang="ru" sz="3600" b="1" i="0" kern="0" dirty="0">
                        <a:solidFill>
                          <a:srgbClr val="0072BC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создать маску подсистеме</a:t>
                      </a:r>
                      <a:endParaRPr lang="ru-RU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45076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3600" b="1" i="0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Ctrl + T</a:t>
                      </a:r>
                      <a:endParaRPr lang="ru" sz="3600" b="1" i="0" kern="0" dirty="0">
                        <a:solidFill>
                          <a:srgbClr val="0072BC"/>
                        </a:solidFill>
                        <a:latin typeface="Arial Black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запуск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3600" b="1" i="0" kern="0" dirty="0">
                          <a:solidFill>
                            <a:srgbClr val="92C5EB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Ctrl + D</a:t>
                      </a:r>
                      <a:endParaRPr lang="ru" sz="3600" b="1" i="0" kern="0" dirty="0">
                        <a:solidFill>
                          <a:srgbClr val="92C5EB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компиляция</a:t>
                      </a:r>
                      <a:endParaRPr lang="ru-RU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73717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3600" b="1" i="0" kern="0" dirty="0">
                          <a:solidFill>
                            <a:srgbClr val="92C5EB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Ctrl + Shift + Y</a:t>
                      </a:r>
                      <a:endParaRPr lang="ru" sz="3600" b="1" i="0" kern="0" dirty="0">
                        <a:solidFill>
                          <a:srgbClr val="92C5EB"/>
                        </a:solidFill>
                        <a:latin typeface="Arial Black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закомментировать и «пропустить» сигнал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3600" b="1" i="0" kern="0" dirty="0">
                          <a:solidFill>
                            <a:srgbClr val="0072BC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Ctrl + Shift + X </a:t>
                      </a:r>
                      <a:endParaRPr lang="ru" sz="3600" b="1" i="0" kern="0" dirty="0">
                        <a:solidFill>
                          <a:srgbClr val="0072BC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закомментировать и «остановить» сигнал</a:t>
                      </a:r>
                      <a:endParaRPr lang="ru-RU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334727"/>
                  </a:ext>
                </a:extLst>
              </a:tr>
              <a:tr h="1080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0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Ctrl</a:t>
                      </a:r>
                      <a:r>
                        <a:rPr lang="en-US" sz="2000" b="1" i="0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2800" b="1" i="0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+ </a:t>
                      </a:r>
                      <a:r>
                        <a:rPr lang="ru-RU" sz="2800" b="1" i="0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кликнуть на блок + потянуть</a:t>
                      </a:r>
                      <a:endParaRPr lang="ru" sz="2800" b="1" i="0" kern="0" dirty="0">
                        <a:solidFill>
                          <a:srgbClr val="0072BC"/>
                        </a:solidFill>
                        <a:latin typeface="Arial Black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дублировать блок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35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5560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4469</TotalTime>
  <Words>463</Words>
  <Application>Microsoft Office PowerPoint</Application>
  <PresentationFormat>Широкоэкранный</PresentationFormat>
  <Paragraphs>79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Cambria Math</vt:lpstr>
      <vt:lpstr>Franklin Gothic Book</vt:lpstr>
      <vt:lpstr>Segoe UI</vt:lpstr>
      <vt:lpstr>Times New Roman</vt:lpstr>
      <vt:lpstr>Тема Office</vt:lpstr>
      <vt:lpstr>КУРС «SIMULINK»</vt:lpstr>
      <vt:lpstr>Презентация PowerPoint</vt:lpstr>
      <vt:lpstr>МАЯТНИК КАПИЦЫ</vt:lpstr>
      <vt:lpstr>МОДЕЛЬ МАЯТНИКА С ВИБРИРУЮЩИМ ПОДВЕСОМ</vt:lpstr>
      <vt:lpstr>ЭНЕРГИЯ МАЯТНИКА</vt:lpstr>
      <vt:lpstr>УРАВНЕНИЕ ДВИЖЕНИЯ</vt:lpstr>
      <vt:lpstr>ЗАДАЧИ</vt:lpstr>
      <vt:lpstr>САМОСТОЯТЕЛЬНАЯ ДОРАБОТКА</vt:lpstr>
      <vt:lpstr>ПОЛЕЗНЫЕ КОМБИНАЦИИ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ВЕРИФИКАЦИЯ ЧИСЛЕННОЙ МОДЕЛИ ЧЁРНОГО И АЗОВСКОГО МОРЕЙ И ИССЛЕДОВАНИЕ ПРОЦЕССОВ ПЕРЕНОСА В КЕРЧЕНСКОМ ПРОЛИВЕ</dc:title>
  <dc:creator>Анастасия Мершавка</dc:creator>
  <cp:lastModifiedBy>Роман Дмитриевич Макаров</cp:lastModifiedBy>
  <cp:revision>41</cp:revision>
  <dcterms:created xsi:type="dcterms:W3CDTF">2020-05-26T15:10:22Z</dcterms:created>
  <dcterms:modified xsi:type="dcterms:W3CDTF">2024-11-13T09:07:39Z</dcterms:modified>
</cp:coreProperties>
</file>